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ForgeSquad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2A5F5"/>
                </a:solidFill>
                <a:latin typeface="Calibri"/>
              </a:defRPr>
            </a:pPr>
            <a:r>
              <a:t>AI-Augmented Engineering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474720"/>
            <a:ext cx="27432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Estratégia para Defender e Escalar o BAU de Engenharia de Software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D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6172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BEC5"/>
                </a:solidFill>
                <a:latin typeface="Calibri"/>
              </a:defRPr>
            </a:pPr>
            <a:r>
              <a:t>NTT DATA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 Desafio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Pressão por redução de custos no BAU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Concorrentes adotando AI agressivamente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Risco de comoditização do serviço de engenharia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Clientes exigindo mais por menos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286000"/>
            <a:ext cx="2286000" cy="2286000"/>
          </a:xfrm>
          <a:prstGeom prst="rect">
            <a:avLst/>
          </a:prstGeom>
          <a:solidFill>
            <a:srgbClr val="28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AB4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Agir agora</a:t>
            </a:r>
            <a:br/>
            <a:r>
              <a:t>ou perder mercado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Solução — ForgeSquad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Framework AI-augmented que não substitui engenheiros — os amplifica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11 agentes especializados orquestrando o pipeline completo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3 camadas: Governance, Squad, Execution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Escala para 3000+ desenvolvedores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292608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926080"/>
            <a:ext cx="2926080" cy="822960"/>
          </a:xfrm>
          <a:prstGeom prst="rect">
            <a:avLst/>
          </a:prstGeom>
          <a:solidFill>
            <a:srgbClr val="0D47A1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06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Squad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4023360"/>
            <a:ext cx="2926080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160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Diferencial Competitivo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  <a:latin typeface="Calibri"/>
              </a:defRPr>
              <a:buChar char="●"/>
              <a:buClr>
                <a:srgbClr val="1a237e"/>
              </a:buClr>
            </a:pPr>
            <a:r>
              <a:t>Não é uma ferramenta — é um framework de governança de engenharia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  <a:latin typeface="Calibri"/>
              </a:defRPr>
              <a:buChar char="●"/>
              <a:buClr>
                <a:srgbClr val="1a237e"/>
              </a:buClr>
            </a:pPr>
            <a:r>
              <a:t>Embedded intelligence (Software Architecture, Cryptography)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  <a:latin typeface="Calibri"/>
              </a:defRPr>
              <a:buChar char="●"/>
              <a:buClr>
                <a:srgbClr val="1a237e"/>
              </a:buClr>
            </a:pPr>
            <a:r>
              <a:t>Audit trail automático para compliance bancário</a:t>
            </a:r>
          </a:p>
          <a:p>
            <a:pPr>
              <a:spcAft>
                <a:spcPts val="2000"/>
              </a:spcAft>
              <a:defRPr sz="2000">
                <a:solidFill>
                  <a:srgbClr val="333333"/>
                </a:solidFill>
                <a:latin typeface="Calibri"/>
              </a:defRPr>
              <a:buChar char="●"/>
              <a:buClr>
                <a:srgbClr val="1a237e"/>
              </a:buClr>
            </a:pPr>
            <a:r>
              <a:t>Metodologias enforced (Scrum, Kanban, Waterfall)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389120"/>
            <a:ext cx="219456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B4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389120"/>
            <a:ext cx="219456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B40"/>
                </a:solidFill>
                <a:latin typeface="Calibri"/>
              </a:defRPr>
            </a:pPr>
            <a:r>
              <a:t>Cryptography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Built-in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389120"/>
            <a:ext cx="219456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B40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Automated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39" y="4389120"/>
            <a:ext cx="219456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39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B40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9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Enforced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ROI Projetado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2286000"/>
          </a:xfrm>
          <a:prstGeom prst="rect">
            <a:avLst/>
          </a:prstGeom>
          <a:solidFill>
            <a:srgbClr val="1A237E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9F0AE"/>
                </a:solidFill>
                <a:latin typeface="Calibri"/>
              </a:defRPr>
            </a:pPr>
            <a:r>
              <a:t>40-60%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Redução no</a:t>
            </a:r>
            <a:br/>
            <a:r>
              <a:t>tempo de entrega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468880" cy="2286000"/>
          </a:xfrm>
          <a:prstGeom prst="rect">
            <a:avLst/>
          </a:prstGeom>
          <a:solidFill>
            <a:srgbClr val="1A237E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9F0AE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Aumento na</a:t>
            </a:r>
            <a:br/>
            <a:r>
              <a:t>produtividade/eng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2468880" cy="2286000"/>
          </a:xfrm>
          <a:prstGeom prst="rect">
            <a:avLst/>
          </a:prstGeom>
          <a:solidFill>
            <a:srgbClr val="1A237E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9F0AE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Redução em</a:t>
            </a:r>
            <a:br/>
            <a:r>
              <a:t>defeitos escapados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828800"/>
            <a:ext cx="2468880" cy="2286000"/>
          </a:xfrm>
          <a:prstGeom prst="rect">
            <a:avLst/>
          </a:prstGeom>
          <a:solidFill>
            <a:srgbClr val="1A237E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AB4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Padronização</a:t>
            </a:r>
            <a:br/>
            <a:r>
              <a:t>em todos os squads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* Baseado em benchmarks internos e dados de mercado de ferramentas AI-augmented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Modelo de Operação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137160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B40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Framework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777240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783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Framework Core — Manutenção do ForgeSquad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88920"/>
            <a:ext cx="137160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B40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Squad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788920"/>
            <a:ext cx="777240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Squad Operations — Operação dos squads nos clientes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931920"/>
            <a:ext cx="1371600" cy="822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B40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Enterprise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931920"/>
            <a:ext cx="777240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069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Enterprise Governance — Compliance, audit, métricas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074920"/>
            <a:ext cx="13716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B40"/>
                </a:solidFill>
                <a:latin typeface="Calibri"/>
              </a:defRPr>
            </a:pPr>
            <a:r>
              <a:t>Tier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Custom 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5074920"/>
            <a:ext cx="777240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5212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Custom Skills — Desenvolvimento de skills sob demanda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Caso de Uso — Banking (Itaú)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Regulação BACEN, LGPD, PCI-DSS automatizada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Audit trail com SHA-256 para cada decisão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Skills customizadas: Open Finance, Basel III/IV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Roda local, sem cloud, sem vazamento de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2926080" cy="3200400"/>
          </a:xfrm>
          <a:prstGeom prst="rect">
            <a:avLst/>
          </a:prstGeom>
          <a:solidFill>
            <a:srgbClr val="0D1250"/>
          </a:solidFill>
          <a:ln w="25400">
            <a:solidFill>
              <a:srgbClr val="69F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69F0AE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F0AE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BACEN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LGPD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PCI-DSS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Basel III/IV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Roadmap de Implantação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200400"/>
            <a:ext cx="9418320" cy="73152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3017520"/>
            <a:ext cx="457200" cy="45720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645920"/>
            <a:ext cx="219456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B40"/>
                </a:solidFill>
                <a:latin typeface="Calibri"/>
              </a:defRPr>
            </a:pPr>
            <a:r>
              <a:t>Mês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Calibri"/>
              </a:defRPr>
            </a:pPr>
            <a:r>
              <a:t>1 squad (8-10 eng)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POC</a:t>
            </a:r>
            <a:br/>
            <a:r>
              <a:t>1 squad (8-10 eng)</a:t>
            </a:r>
          </a:p>
        </p:txBody>
      </p:sp>
      <p:sp>
        <p:nvSpPr>
          <p:cNvPr id="13" name="Oval 12"/>
          <p:cNvSpPr/>
          <p:nvPr/>
        </p:nvSpPr>
        <p:spPr>
          <a:xfrm>
            <a:off x="4754880" y="301752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1645920"/>
            <a:ext cx="219456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B40"/>
                </a:solidFill>
                <a:latin typeface="Calibri"/>
              </a:defRPr>
            </a:pPr>
            <a:r>
              <a:t>Mês 3-4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Piloto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Calibri"/>
              </a:defRPr>
            </a:pPr>
            <a:r>
              <a:t>5 squads (40-50 eng)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Piloto</a:t>
            </a:r>
            <a:br/>
            <a:r>
              <a:t>5 squads (40-50 eng)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301752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1645920"/>
            <a:ext cx="2194560" cy="11887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B40"/>
                </a:solidFill>
                <a:latin typeface="Calibri"/>
              </a:defRPr>
            </a:pPr>
            <a:r>
              <a:t>Mês 5-8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Scale-up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Calibri"/>
              </a:defRPr>
            </a:pPr>
            <a:r>
              <a:t>50 squads (400+ eng)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Scale-up</a:t>
            </a:r>
            <a:br/>
            <a:r>
              <a:t>50 squads (400+ eng)</a:t>
            </a:r>
          </a:p>
        </p:txBody>
      </p:sp>
      <p:sp>
        <p:nvSpPr>
          <p:cNvPr id="25" name="Oval 24"/>
          <p:cNvSpPr/>
          <p:nvPr/>
        </p:nvSpPr>
        <p:spPr>
          <a:xfrm>
            <a:off x="9875519" y="301752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59" y="1645920"/>
            <a:ext cx="21945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59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B40"/>
                </a:solidFill>
                <a:latin typeface="Calibri"/>
              </a:defRPr>
            </a:pPr>
            <a:r>
              <a:t>Mês 9-12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Calibri"/>
              </a:defRPr>
            </a:pPr>
            <a:r>
              <a:t>150+ squads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Enterprise</a:t>
            </a:r>
            <a:br/>
            <a:r>
              <a:t>150+ squads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Modelo Comercial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Licenciamento por squad/mês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Setup fee para customização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Premium tier para governance enterprise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Calibri"/>
              </a:defRPr>
              <a:buChar char="●"/>
              <a:buClr>
                <a:srgbClr val="42a5f5"/>
              </a:buClr>
            </a:pPr>
            <a:r>
              <a:t>Revenue recorrente estimado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2743200" cy="1645920"/>
          </a:xfrm>
          <a:prstGeom prst="rect">
            <a:avLst/>
          </a:prstGeom>
          <a:solidFill>
            <a:srgbClr val="0D1250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B40"/>
                </a:solidFill>
                <a:latin typeface="Calibri"/>
              </a:defRPr>
            </a:pPr>
            <a: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9F0AE"/>
                </a:solidFill>
                <a:latin typeface="Calibri"/>
              </a:defRPr>
            </a:pPr>
            <a:r>
              <a:t>R$ 5k-8k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por squad/mes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114800"/>
            <a:ext cx="2743200" cy="1645920"/>
          </a:xfrm>
          <a:prstGeom prst="rect">
            <a:avLst/>
          </a:prstGeom>
          <a:solidFill>
            <a:srgbClr val="0D1250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B40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9F0AE"/>
                </a:solidFill>
                <a:latin typeface="Calibri"/>
              </a:defRPr>
            </a:pPr>
            <a:r>
              <a:t>R$ 12k-18k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governance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4114800"/>
            <a:ext cx="2743200" cy="1645920"/>
          </a:xfrm>
          <a:prstGeom prst="rect">
            <a:avLst/>
          </a:prstGeom>
          <a:solidFill>
            <a:srgbClr val="0D1250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B40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9F0AE"/>
                </a:solidFill>
                <a:latin typeface="Calibri"/>
              </a:defRPr>
            </a:pPr>
            <a:r>
              <a:t>Sob consulta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skills dedicadas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Call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38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B40"/>
                </a:solidFill>
                <a:latin typeface="Calibri"/>
              </a:defRPr>
            </a:pPr>
            <a:r>
              <a:t>Aprovar POC com Itaú (Q2 2025)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28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Alocar time de 3 engenheiros para framework core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657600"/>
            <a:ext cx="548640" cy="548640"/>
          </a:xfrm>
          <a:prstGeom prst="ellipse">
            <a:avLst/>
          </a:prstGeom>
          <a:solidFill>
            <a:srgbClr val="28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Budget de R$150k para 6 meses de POC + Piloto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663440"/>
            <a:ext cx="548640" cy="548640"/>
          </a:xfrm>
          <a:prstGeom prst="ellipse">
            <a:avLst/>
          </a:prstGeom>
          <a:solidFill>
            <a:srgbClr val="28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Target: 10 clientes em 18 meses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5486400"/>
            <a:ext cx="5486400" cy="64008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5532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  <a:latin typeface="Calibri"/>
              </a:defRPr>
            </a:pPr>
            <a:r>
              <a:t>Vamos começar? Agende a reunião de kickoff.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ForgeSquad v2.0 | NTT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