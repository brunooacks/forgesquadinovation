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2286000" cy="508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Calibri Light"/>
              </a:defRPr>
            </a:pPr>
            <a:r>
              <a:t>ForgeSquad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EC7000"/>
                </a:solidFill>
                <a:latin typeface="Calibri Light"/>
              </a:defRPr>
            </a:pPr>
            <a:r>
              <a:t>Engenharia de Software AI-Augmented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Calibri"/>
              </a:defRPr>
            </a:pPr>
            <a:r>
              <a:t>Framework de Governança para Escalar Engenharia com Segurança e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669280"/>
            <a:ext cx="4572000" cy="1905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806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Confidencial  |  NTT DATA para Itaú Unibanco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0" y="0"/>
            <a:ext cx="1218895" cy="13716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761695" cy="7315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48640"/>
            <a:ext cx="50800" cy="4572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C7000"/>
                </a:solidFill>
                <a:latin typeface="Calibri"/>
              </a:defRPr>
            </a:pPr>
            <a: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3366"/>
                </a:solidFill>
                <a:latin typeface="Calibri Light"/>
              </a:defRPr>
            </a:pPr>
            <a:r>
              <a:t>Contexto do Mercado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371600" cy="381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2560320" cy="2926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2560320" cy="508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3366"/>
                </a:solidFill>
                <a:latin typeface="Calibri Light"/>
              </a:defRPr>
            </a:pPr>
            <a:r>
              <a:t>R$ 35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investimento anual</a:t>
            </a:r>
            <a:br/>
            <a:r>
              <a:t>em TI (Febraban 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560320"/>
            <a:ext cx="2560320" cy="2926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2560320"/>
            <a:ext cx="2560320" cy="50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3366"/>
                </a:solidFill>
                <a:latin typeface="Calibri Light"/>
              </a:defRPr>
            </a:pPr>
            <a:r>
              <a:t>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206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do orçamento dedicado</a:t>
            </a:r>
            <a:br/>
            <a:r>
              <a:t>a BAU e manutenção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560320"/>
            <a:ext cx="2560320" cy="2926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560320"/>
            <a:ext cx="2560320" cy="508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3366"/>
                </a:solidFill>
                <a:latin typeface="Calibri Light"/>
              </a:defRPr>
            </a:pPr>
            <a:r>
              <a:t>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206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promete eficiência</a:t>
            </a:r>
            <a:br/>
            <a:r>
              <a:t>mas falta governança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560320"/>
            <a:ext cx="2560320" cy="2926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560320"/>
            <a:ext cx="2560320" cy="50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0175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3366"/>
                </a:solidFill>
                <a:latin typeface="Calibri Light"/>
              </a:defRPr>
            </a:pPr>
            <a:r>
              <a:t>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2062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risco regulatório</a:t>
            </a:r>
            <a:br/>
            <a:r>
              <a:t>em uso descontrolado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3/12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C7000"/>
                </a:solidFill>
                <a:latin typeface="Calibri"/>
              </a:defRPr>
            </a:pPr>
            <a: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AI sem governança é um risco, não uma solução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828800" cy="381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240280"/>
            <a:ext cx="9601200" cy="86868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C7000"/>
                </a:solidFill>
                <a:latin typeface="Calibri"/>
              </a:defRPr>
            </a:pPr>
            <a:r>
              <a:t>✖  AI sem governança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700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Risco de compliance e exposição de dados sensíveis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291840"/>
            <a:ext cx="9601200" cy="86868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C7000"/>
                </a:solidFill>
                <a:latin typeface="Calibri"/>
              </a:defRPr>
            </a:pPr>
            <a:r>
              <a:t>✖  Uso inconsistente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7216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Cada dev usa AI de forma diferente — sem padrão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343400"/>
            <a:ext cx="9601200" cy="86868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C7000"/>
                </a:solidFill>
                <a:latin typeface="Calibri"/>
              </a:defRPr>
            </a:pPr>
            <a:r>
              <a:t>✖  Sem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731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Não passa auditoria BACEN / reguladores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5394959"/>
            <a:ext cx="9601200" cy="86868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4406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C7000"/>
                </a:solidFill>
                <a:latin typeface="Calibri"/>
              </a:defRPr>
            </a:pPr>
            <a:r>
              <a:t>✖  Sem padronização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824727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Desperdício de recursos em escala enterprise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0" y="0"/>
            <a:ext cx="1218895" cy="13716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761695" cy="7315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4/12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48640"/>
            <a:ext cx="50800" cy="4572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C7000"/>
                </a:solidFill>
                <a:latin typeface="Calibri"/>
              </a:defRPr>
            </a:pPr>
            <a:r>
              <a:t>A SOLUÇÃO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3366"/>
                </a:solidFill>
                <a:latin typeface="Calibri Light"/>
              </a:defRPr>
            </a:pPr>
            <a:r>
              <a:t>ForgeSquad — A Solução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371600" cy="381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66666"/>
                </a:solidFill>
                <a:latin typeface="Calibri"/>
              </a:defRPr>
            </a:pPr>
            <a:r>
              <a:t>Framework que padroniza e governa o uso de AI na engenharia de software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502920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63500" cy="146304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91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366"/>
                </a:solidFill>
                <a:latin typeface="Calibri"/>
              </a:defRPr>
            </a:pPr>
            <a:r>
              <a:t>11 Agentes</a:t>
            </a:r>
            <a:br/>
            <a:r>
              <a:t>Especializados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3375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Um agente AI dedicado</a:t>
            </a:r>
            <a:br/>
            <a:r>
              <a:t>por papel no squad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08960"/>
            <a:ext cx="502920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108960"/>
            <a:ext cx="63500" cy="1463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366"/>
                </a:solidFill>
                <a:latin typeface="Calibri"/>
              </a:defRPr>
            </a:pPr>
            <a:r>
              <a:t>Audit Trail</a:t>
            </a:r>
            <a:br/>
            <a:r>
              <a:t>Automático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33756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SHA-256 em cada ação</a:t>
            </a:r>
            <a:br/>
            <a:r>
              <a:t>Compliance ready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502920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63500" cy="146304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366"/>
                </a:solidFill>
                <a:latin typeface="Calibri"/>
              </a:defRPr>
            </a:pPr>
            <a:r>
              <a:t>100%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0749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Zero exposição de dados</a:t>
            </a:r>
            <a:br/>
            <a:r>
              <a:t>Execução na máquina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502920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846320"/>
            <a:ext cx="63500" cy="1463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0292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3366"/>
                </a:solidFill>
                <a:latin typeface="Calibri"/>
              </a:defRPr>
            </a:pPr>
            <a:r>
              <a:t>Governança</a:t>
            </a:r>
            <a:br/>
            <a:r>
              <a:t>Enforced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507492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66666"/>
                </a:solidFill>
                <a:latin typeface="Calibri"/>
              </a:defRPr>
            </a:pPr>
            <a:r>
              <a:t>Políticas e gates</a:t>
            </a:r>
            <a:br/>
            <a:r>
              <a:t>automáticos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5/12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C7000"/>
                </a:solidFill>
                <a:latin typeface="Calibri"/>
              </a:defRPr>
            </a:pPr>
            <a:r>
              <a:t>SEGURANÇA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Segurança e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828800" cy="381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10058400" cy="7315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C7000"/>
                </a:solidFill>
                <a:latin typeface="Calibri"/>
              </a:defRPr>
            </a:pPr>
            <a:r>
              <a:t>🔒  Zero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2128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Execução 100% local na máquina do desenvolvedor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17519"/>
            <a:ext cx="10058400" cy="7315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632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C7000"/>
                </a:solidFill>
                <a:latin typeface="Calibri"/>
              </a:defRPr>
            </a:pPr>
            <a:r>
              <a:t>🧠  Crypto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081527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Criptografia embedded em cada decisão do agente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886200"/>
            <a:ext cx="10058400" cy="7315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31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C7000"/>
                </a:solidFill>
                <a:latin typeface="Calibri"/>
              </a:defRPr>
            </a:pPr>
            <a:r>
              <a:t>✅  Compliance Automático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50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BACEN, LGPD, PCI-DSS, Basel III/IV built-in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800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C7000"/>
                </a:solidFill>
                <a:latin typeface="Calibri"/>
              </a:defRPr>
            </a:pPr>
            <a:r>
              <a:t>📝  Audit Imutável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8188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Cada ação logada com hash criptográfico SHA-256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623559"/>
            <a:ext cx="10058400" cy="7315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6692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C7000"/>
                </a:solidFill>
                <a:latin typeface="Calibri"/>
              </a:defRPr>
            </a:pPr>
            <a:r>
              <a:t>🔍  Integrações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687567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SonarQube, Fortify, Checkmarx nativamente suportados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0" y="0"/>
            <a:ext cx="1218895" cy="13716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761695" cy="7315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6/12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48640"/>
            <a:ext cx="50800" cy="4572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C7000"/>
                </a:solidFill>
                <a:latin typeface="Calibri"/>
              </a:defRPr>
            </a:pPr>
            <a:r>
              <a:t>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3366"/>
                </a:solidFill>
                <a:latin typeface="Calibri Light"/>
              </a:defRPr>
            </a:pPr>
            <a:r>
              <a:t>Escala Enterprise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371600" cy="381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5029200" cy="182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680"/>
              </a:lnSpc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EC7000"/>
                </a:solidFill>
                <a:latin typeface="Calibri Light"/>
              </a:defRPr>
            </a:pPr>
            <a:r>
              <a:t>375+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83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squads simultâneos</a:t>
            </a:r>
            <a:br/>
            <a:r>
              <a:t>3.000+ desenvolvedores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774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79"/>
              </a:lnSpc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EC7000"/>
                </a:solidFill>
                <a:latin typeface="Calibri"/>
              </a:rPr>
              <a:t>●  </a:t>
            </a:r>
            <a:r>
              <a:rPr sz="1700">
                <a:solidFill>
                  <a:srgbClr val="333333"/>
                </a:solidFill>
                <a:latin typeface="Calibri"/>
              </a:rPr>
              <a:t>3 camadas: Governance → Squad → Execution</a:t>
            </a:r>
          </a:p>
          <a:p>
            <a:pPr>
              <a:lnSpc>
                <a:spcPts val="2379"/>
              </a:lnSpc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EC7000"/>
                </a:solidFill>
                <a:latin typeface="Calibri"/>
              </a:rPr>
              <a:t>●  </a:t>
            </a:r>
            <a:r>
              <a:rPr sz="1700">
                <a:solidFill>
                  <a:srgbClr val="333333"/>
                </a:solidFill>
                <a:latin typeface="Calibri"/>
              </a:rPr>
              <a:t>Metodologia enforced por política (Scrum/Kanban/Waterfall)</a:t>
            </a:r>
          </a:p>
          <a:p>
            <a:pPr>
              <a:lnSpc>
                <a:spcPts val="2379"/>
              </a:lnSpc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EC7000"/>
                </a:solidFill>
                <a:latin typeface="Calibri"/>
              </a:rPr>
              <a:t>●  </a:t>
            </a:r>
            <a:r>
              <a:rPr sz="1700">
                <a:solidFill>
                  <a:srgbClr val="333333"/>
                </a:solidFill>
                <a:latin typeface="Calibri"/>
              </a:rPr>
              <a:t>Métricas rollup para liderança em tempo real</a:t>
            </a:r>
          </a:p>
          <a:p>
            <a:pPr>
              <a:lnSpc>
                <a:spcPts val="2379"/>
              </a:lnSpc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EC7000"/>
                </a:solidFill>
                <a:latin typeface="Calibri"/>
              </a:rPr>
              <a:t>●  </a:t>
            </a:r>
            <a:r>
              <a:rPr sz="1700">
                <a:solidFill>
                  <a:srgbClr val="333333"/>
                </a:solidFill>
                <a:latin typeface="Calibri"/>
              </a:rPr>
              <a:t>Configuração centralizada por squad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280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Governance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8280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Políticas, compliance, métricas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94960"/>
            <a:ext cx="10515600" cy="54864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681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Squad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4681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Configuração, roles, metodologia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6108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Execution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1081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Agentes AI, pipelines, artefatos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7/12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C7000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Pipeline de Engenharia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828800" cy="381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C7000"/>
                </a:solidFill>
                <a:latin typeface="Calibri Light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AAAA"/>
                </a:solidFill>
                <a:latin typeface="Calibri"/>
              </a:defRPr>
            </a:pPr>
            <a:r>
              <a:t>fases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C7000"/>
                </a:solidFill>
                <a:latin typeface="Calibri Light"/>
              </a:defRPr>
            </a:pPr>
            <a: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AAAA"/>
                </a:solidFill>
                <a:latin typeface="Calibri"/>
              </a:defRPr>
            </a:pPr>
            <a:r>
              <a:t>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03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C7000"/>
                </a:solidFill>
                <a:latin typeface="Calibri Light"/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AAAAA"/>
                </a:solidFill>
                <a:latin typeface="Calibri"/>
              </a:defRPr>
            </a:pPr>
            <a:r>
              <a:t>checkpoints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1920240" cy="9144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Estimation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108960"/>
            <a:ext cx="1920240" cy="9144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3291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108960"/>
            <a:ext cx="1920240" cy="9144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291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199" y="3108960"/>
            <a:ext cx="1920240" cy="9144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39" y="3291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32918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3108960"/>
            <a:ext cx="1920240" cy="9144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32918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297680"/>
            <a:ext cx="1920240" cy="9144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480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480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297680"/>
            <a:ext cx="1920240" cy="9144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4480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Code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480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4297680"/>
            <a:ext cx="1920240" cy="9144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4480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Documentation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480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199" y="4297680"/>
            <a:ext cx="1920240" cy="9144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39" y="4480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3999" y="4480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4297680"/>
            <a:ext cx="1920240" cy="9144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44805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Sustenance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●  Cada checkpoint gera artefato auditável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CCCCC"/>
                </a:solidFill>
                <a:latin typeface="Calibri"/>
              </a:defRPr>
            </a:pPr>
            <a:r>
              <a:t>●  Go/No-Go gates com evidence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0" y="0"/>
            <a:ext cx="1218895" cy="13716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761695" cy="7315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8/12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48640"/>
            <a:ext cx="50800" cy="4572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C7000"/>
                </a:solidFill>
                <a:latin typeface="Calibri"/>
              </a:defRPr>
            </a:pPr>
            <a:r>
              <a:t>CASO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3366"/>
                </a:solidFill>
                <a:latin typeface="Calibri Light"/>
              </a:defRPr>
            </a:pPr>
            <a:r>
              <a:t>Open Finance Squad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371600" cy="381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t>Squad dedicado com skills customizadas para Open Finance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2560320" cy="3017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2560320" cy="7315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BA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Analisa regulação BACEN</a:t>
            </a:r>
            <a:br/>
            <a:r>
              <a:t>automaticamente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926080"/>
            <a:ext cx="2560320" cy="3017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2926080"/>
            <a:ext cx="256032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3063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Architect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0233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Aplica padrões Martin Fowler</a:t>
            </a:r>
            <a:br/>
            <a:r>
              <a:t>embedded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926080"/>
            <a:ext cx="2560320" cy="3017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926080"/>
            <a:ext cx="2560320" cy="73152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063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SRE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0233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Configura SLOs para</a:t>
            </a:r>
            <a:br/>
            <a:r>
              <a:t>APIs de Open Finance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926080"/>
            <a:ext cx="2560320" cy="3017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2926080"/>
            <a:ext cx="2560320" cy="73152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30632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DevOps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40233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Automatiza deployment</a:t>
            </a:r>
            <a:br/>
            <a:r>
              <a:t>blue-green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9/12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C7000"/>
                </a:solidFill>
                <a:latin typeface="Calibri"/>
              </a:defRPr>
            </a:pPr>
            <a:r>
              <a:t>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Resultados Esperados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828800" cy="381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011680" cy="34747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2011680" cy="635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EC7000"/>
                </a:solidFill>
                <a:latin typeface="Calibri Light"/>
              </a:defRPr>
            </a:pPr>
            <a:r>
              <a:t>40-60%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redução no tempo</a:t>
            </a:r>
            <a:br/>
            <a:r>
              <a:t>de entrega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377440"/>
            <a:ext cx="2011680" cy="34747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377440"/>
            <a:ext cx="2011680" cy="635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9260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EC7000"/>
                </a:solidFill>
                <a:latin typeface="Calibri Light"/>
              </a:defRPr>
            </a:pPr>
            <a:r>
              <a:t>75%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2062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menos defeitos</a:t>
            </a:r>
            <a:br/>
            <a:r>
              <a:t>em produção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377440"/>
            <a:ext cx="2011680" cy="34747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2377440"/>
            <a:ext cx="2011680" cy="635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29260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EC7000"/>
                </a:solidFill>
                <a:latin typeface="Calibri Light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42062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das entregas com</a:t>
            </a:r>
            <a:br/>
            <a:r>
              <a:t>audit trail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377440"/>
            <a:ext cx="2011680" cy="34747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2377440"/>
            <a:ext cx="2011680" cy="635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9260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EC7000"/>
                </a:solidFill>
                <a:latin typeface="Calibri Light"/>
              </a:defRPr>
            </a:pPr>
            <a:r>
              <a:t>3x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2062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produtividade</a:t>
            </a:r>
            <a:br/>
            <a:r>
              <a:t>por engenheiro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2377440"/>
            <a:ext cx="2011680" cy="34747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2377440"/>
            <a:ext cx="2011680" cy="635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29260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56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EC7000"/>
                </a:solidFill>
                <a:latin typeface="Calibri Light"/>
              </a:defRPr>
            </a:pPr>
            <a:r>
              <a:t>6 meses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42062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para ROI</a:t>
            </a:r>
            <a:br/>
            <a:r>
              <a:t>positivo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0" y="0"/>
            <a:ext cx="1218895" cy="13716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761695" cy="7315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10/12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48640"/>
            <a:ext cx="50800" cy="4572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C7000"/>
                </a:solidFill>
                <a:latin typeface="Calibri"/>
              </a:defRPr>
            </a:pPr>
            <a:r>
              <a:t>PROPOSTA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3366"/>
                </a:solidFill>
                <a:latin typeface="Calibri Light"/>
              </a:defRPr>
            </a:pPr>
            <a:r>
              <a:t>Proposta de POC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371600" cy="381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05156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27432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Escopo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514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1 squad, 1 projeto real (Open Finance ou PIX)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27432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Duração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3832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8 semanas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27432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51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Equipe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251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8-10 engenheiros NTT + framework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83479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983479"/>
            <a:ext cx="27432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206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Investimento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1206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Incluso no contrato BAU existente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852160"/>
            <a:ext cx="27432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989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Entregáveis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989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Projeto funcional + relatório de métricas + comparativo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11/12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C7000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Roadmap de Implementação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828800" cy="381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474720"/>
            <a:ext cx="10058400" cy="381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0240" y="3337560"/>
            <a:ext cx="320040" cy="32004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286000"/>
            <a:ext cx="2286000" cy="9144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286000"/>
            <a:ext cx="2286000" cy="508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C7000"/>
                </a:solidFill>
                <a:latin typeface="Calibri"/>
              </a:defRPr>
            </a:pPr>
            <a:r>
              <a:t>Q2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931920"/>
            <a:ext cx="2286000" cy="16459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C7000"/>
                </a:solidFill>
                <a:latin typeface="Calibri Light"/>
              </a:defRPr>
            </a:pPr>
            <a:r>
              <a:t>1 squad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AAAA"/>
                </a:solidFill>
                <a:latin typeface="Calibri"/>
              </a:defRPr>
            </a:pPr>
            <a:r>
              <a:t>POC</a:t>
            </a:r>
          </a:p>
        </p:txBody>
      </p:sp>
      <p:sp>
        <p:nvSpPr>
          <p:cNvPr id="16" name="Oval 15"/>
          <p:cNvSpPr/>
          <p:nvPr/>
        </p:nvSpPr>
        <p:spPr>
          <a:xfrm>
            <a:off x="4571999" y="3337560"/>
            <a:ext cx="320040" cy="320040"/>
          </a:xfrm>
          <a:prstGeom prst="ellipse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2286000"/>
            <a:ext cx="2286000" cy="9144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39" y="2286000"/>
            <a:ext cx="2286000" cy="50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199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A9E"/>
                </a:solidFill>
                <a:latin typeface="Calibri"/>
              </a:defRPr>
            </a:pPr>
            <a:r>
              <a:t>Q3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199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Piloto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3931920"/>
            <a:ext cx="2286000" cy="16459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6199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5A9E"/>
                </a:solidFill>
                <a:latin typeface="Calibri Light"/>
              </a:defRPr>
            </a:pPr>
            <a:r>
              <a:t>5 squads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199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AAAA"/>
                </a:solidFill>
                <a:latin typeface="Calibri"/>
              </a:defRPr>
            </a:pPr>
            <a:r>
              <a:t>Piloto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0" y="3337560"/>
            <a:ext cx="320040" cy="320040"/>
          </a:xfrm>
          <a:prstGeom prst="ellipse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286000"/>
            <a:ext cx="2286000" cy="9144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286000"/>
            <a:ext cx="2286000" cy="50800"/>
          </a:xfrm>
          <a:prstGeom prst="rect">
            <a:avLst/>
          </a:prstGeom>
          <a:solidFill>
            <a:srgbClr val="0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8060"/>
                </a:solidFill>
                <a:latin typeface="Calibri"/>
              </a:defRPr>
            </a:pPr>
            <a:r>
              <a:t>Q4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Scale-up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931920"/>
            <a:ext cx="2286000" cy="16459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8060"/>
                </a:solidFill>
                <a:latin typeface="Calibri Light"/>
              </a:defRPr>
            </a:pPr>
            <a:r>
              <a:t>20 squads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AAAA"/>
                </a:solidFill>
                <a:latin typeface="Calibri"/>
              </a:defRPr>
            </a:pPr>
            <a:r>
              <a:t>Scale-up</a:t>
            </a:r>
          </a:p>
        </p:txBody>
      </p:sp>
      <p:sp>
        <p:nvSpPr>
          <p:cNvPr id="32" name="Oval 31"/>
          <p:cNvSpPr/>
          <p:nvPr/>
        </p:nvSpPr>
        <p:spPr>
          <a:xfrm>
            <a:off x="9875519" y="3337560"/>
            <a:ext cx="320040" cy="32004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59" y="2286000"/>
            <a:ext cx="2286000" cy="9144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52559" y="2286000"/>
            <a:ext cx="2286000" cy="508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19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C7000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19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59" y="3931920"/>
            <a:ext cx="2286000" cy="164592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19" y="4206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C7000"/>
                </a:solidFill>
                <a:latin typeface="Calibri Light"/>
              </a:defRPr>
            </a:pPr>
            <a:r>
              <a:t>100+ squads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4846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AAAAA"/>
                </a:solidFill>
                <a:latin typeface="Calibri"/>
              </a:defRPr>
            </a:pPr>
            <a:r>
              <a:t>Enterprise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0" y="0"/>
            <a:ext cx="1218895" cy="13716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137160"/>
            <a:ext cx="761695" cy="73152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11277295" cy="254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12/12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48640"/>
            <a:ext cx="50800" cy="4572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C7000"/>
                </a:solidFill>
                <a:latin typeface="Calibri"/>
              </a:defRPr>
            </a:pPr>
            <a:r>
              <a:t>POR QUE NÓS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3366"/>
                </a:solidFill>
                <a:latin typeface="Calibri Light"/>
              </a:defRPr>
            </a:pPr>
            <a:r>
              <a:t>Por que NTT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1371600" cy="381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05156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63500" cy="7315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46888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3366"/>
                </a:solidFill>
                <a:latin typeface="Calibri"/>
              </a:defRPr>
            </a:pPr>
            <a:r>
              <a:t>Parceria Existente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514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Relação consolidada com Itaú Unibanco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63500" cy="7315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333756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337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3366"/>
                </a:solidFill>
                <a:latin typeface="Calibri"/>
              </a:defRPr>
            </a:pPr>
            <a:r>
              <a:t>Domínio Bancário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Conhecimento profundo do contexto regulatório e operacional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114800"/>
            <a:ext cx="63500" cy="7315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420624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206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3366"/>
                </a:solidFill>
                <a:latin typeface="Calibri"/>
              </a:defRPr>
            </a:pPr>
            <a:r>
              <a:t>Time Sênior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251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Equipe de engenharia sênior dedicada ao projeto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983479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983479"/>
            <a:ext cx="63500" cy="7315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7280" y="5074919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0749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3366"/>
                </a:solidFill>
                <a:latin typeface="Calibri"/>
              </a:defRPr>
            </a:pPr>
            <a:r>
              <a:t>IP Protegido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1206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Framework proprietário com propriedade intelectual protegida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852160"/>
            <a:ext cx="63500" cy="7315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" y="5943600"/>
            <a:ext cx="502920" cy="50292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3366"/>
                </a:solidFill>
                <a:latin typeface="Calibri"/>
              </a:defRPr>
            </a:pPr>
            <a:r>
              <a:t>Suporte 24/7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5989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Suporte enterprise com SLA garantido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5760720"/>
            <a:ext cx="5760720" cy="64008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5806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 Light"/>
              </a:defRPr>
            </a:pPr>
            <a:r>
              <a:t>Vamos começar o POC?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