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Devin Enterprise: https://devin.ai/enterprise
GitHub Copilot coding agent: https://github.blog/changelog/2025-08-27-copilot-coding-agent-is-now-available-in-github-enterprise-cloud-with-data-residency/
Kiro: https://kiro.dev/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828"/>
          </a:solidFill>
          <a:ln w="12700">
            <a:solidFill>
              <a:srgbClr val="081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12700">
            <a:solidFill>
              <a:srgbClr val="4050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19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ForgeSquad | material executivo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28432" y="411480"/>
            <a:ext cx="3401568" cy="5349240"/>
          </a:xfrm>
          <a:prstGeom prst="rect">
            <a:avLst/>
          </a:prstGeom>
          <a:solidFill>
            <a:srgbClr val="0E2A42"/>
          </a:solidFill>
          <a:ln w="12700">
            <a:solidFill>
              <a:srgbClr val="0E2A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02752" y="685800"/>
            <a:ext cx="2852928" cy="1965960"/>
          </a:xfrm>
          <a:prstGeom prst="rect">
            <a:avLst/>
          </a:prstGeom>
          <a:solidFill>
            <a:srgbClr val="143552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02752" y="2880360"/>
            <a:ext cx="1298448" cy="960120"/>
          </a:xfrm>
          <a:prstGeom prst="rect">
            <a:avLst/>
          </a:prstGeom>
          <a:solidFill>
            <a:srgbClr val="143552"/>
          </a:solidFill>
          <a:ln w="12700">
            <a:solidFill>
              <a:srgbClr val="5ED3B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57232" y="2880360"/>
            <a:ext cx="1298448" cy="960120"/>
          </a:xfrm>
          <a:prstGeom prst="rect">
            <a:avLst/>
          </a:prstGeom>
          <a:solidFill>
            <a:srgbClr val="143552"/>
          </a:solidFill>
          <a:ln w="12700">
            <a:solidFill>
              <a:srgbClr val="7DB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02752" y="4096512"/>
            <a:ext cx="2852928" cy="1261872"/>
          </a:xfrm>
          <a:prstGeom prst="rect">
            <a:avLst/>
          </a:prstGeom>
          <a:solidFill>
            <a:srgbClr val="143552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32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ForgeSquad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Plataforma de orquestração agentic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engenharia de software regulada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2834640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estruturação de requisitos à execução com governança, approval gates e rastreabilidade para ambientes enterprise.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3730752"/>
            <a:ext cx="1051560" cy="274320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3730752"/>
            <a:ext cx="1325880" cy="274320"/>
          </a:xfrm>
          <a:prstGeom prst="rect">
            <a:avLst/>
          </a:prstGeom>
          <a:solidFill>
            <a:srgbClr val="5ED3B3"/>
          </a:solidFill>
          <a:ln>
            <a:solidFill>
              <a:srgbClr val="5ED3B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73552" y="3730752"/>
            <a:ext cx="1234440" cy="274320"/>
          </a:xfrm>
          <a:prstGeom prst="rect">
            <a:avLst/>
          </a:prstGeom>
          <a:solidFill>
            <a:srgbClr val="7DB7FF"/>
          </a:solidFill>
          <a:ln>
            <a:solidFill>
              <a:srgbClr val="7DB7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4800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</a:rPr>
              <a:t>NTT DATA | Bruno Oliveira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5102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C4D0"/>
                </a:solidFill>
              </a:rPr>
              <a:t>Apresentação executiva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desafio que as empresas têm hoje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adoção de IA em engenharia avançou, mas a operação continua fragmentada e difícil de governar.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691640"/>
            <a:ext cx="2148840" cy="3611880"/>
          </a:xfrm>
          <a:prstGeom prst="roundRect">
            <a:avLst>
              <a:gd name="adj" fmla="val 2553"/>
            </a:avLst>
          </a:prstGeom>
          <a:solidFill>
            <a:srgbClr val="0D2236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5F7FA"/>
                </a:solidFill>
              </a:rPr>
              <a:t>Ferramentas desconectadas</a:t>
            </a:r>
            <a:endParaRPr lang="en-US" sz="1580" dirty="0"/>
          </a:p>
        </p:txBody>
      </p:sp>
      <p:sp>
        <p:nvSpPr>
          <p:cNvPr id="7" name="Text 5"/>
          <p:cNvSpPr/>
          <p:nvPr/>
        </p:nvSpPr>
        <p:spPr>
          <a:xfrm>
            <a:off x="859536" y="2907792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B8C4D0"/>
                </a:solidFill>
              </a:rPr>
              <a:t>Múltiplas soluções atuam em trechos do ciclo, cada uma com contexto e evidências próprias.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593592" y="1691640"/>
            <a:ext cx="2148840" cy="3611880"/>
          </a:xfrm>
          <a:prstGeom prst="roundRect">
            <a:avLst>
              <a:gd name="adj" fmla="val 2553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9896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D3B3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39896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5F7FA"/>
                </a:solidFill>
              </a:rPr>
              <a:t>Coordenação cara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3739896" y="2907792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B8C4D0"/>
                </a:solidFill>
              </a:rPr>
              <a:t>Muito tempo ainda é gasto em alinhamento, handoffs, aprovação e retrabalho.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473952" y="1691640"/>
            <a:ext cx="2148840" cy="3611880"/>
          </a:xfrm>
          <a:prstGeom prst="roundRect">
            <a:avLst>
              <a:gd name="adj" fmla="val 2553"/>
            </a:avLst>
          </a:prstGeom>
          <a:solidFill>
            <a:srgbClr val="0D2236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B7FF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0256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5F7FA"/>
                </a:solidFill>
              </a:rPr>
              <a:t>Governança limitada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6620256" y="2907792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B8C4D0"/>
                </a:solidFill>
              </a:rPr>
              <a:t>Sem trilha clara de decisão, accountability e checkpoints, a confiança cai.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354312" y="1691640"/>
            <a:ext cx="2148840" cy="3611880"/>
          </a:xfrm>
          <a:prstGeom prst="roundRect">
            <a:avLst>
              <a:gd name="adj" fmla="val 2553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0616" y="18836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5DCE3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0616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5F7FA"/>
                </a:solidFill>
              </a:rPr>
              <a:t>Escala inconsistente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9500616" y="2907792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B8C4D0"/>
                </a:solidFill>
              </a:rPr>
              <a:t>Escalar delivery com qualidade e conformidade continua dependente de esforço humano intenso.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868680" y="55778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</a:rPr>
              <a:t>O espaço de valor está em organizar agentes, ferramentas e pessoas em um fluxo governável de engenharia.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o ForgeSquad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modelo operacional de squad de IA para executar engenharia com supervisão humana e rastreabilidade.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554480"/>
            <a:ext cx="3657600" cy="4251960"/>
          </a:xfrm>
          <a:prstGeom prst="roundRect">
            <a:avLst>
              <a:gd name="adj" fmla="val 1500"/>
            </a:avLst>
          </a:prstGeom>
          <a:solidFill>
            <a:srgbClr val="0C2234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554480"/>
            <a:ext cx="2057400" cy="4251960"/>
          </a:xfrm>
          <a:prstGeom prst="roundRect">
            <a:avLst>
              <a:gd name="adj" fmla="val 2667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1554480"/>
            <a:ext cx="2057400" cy="4251960"/>
          </a:xfrm>
          <a:prstGeom prst="roundRect">
            <a:avLst>
              <a:gd name="adj" fmla="val 2667"/>
            </a:avLst>
          </a:prstGeom>
          <a:solidFill>
            <a:srgbClr val="0E2740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1554480"/>
            <a:ext cx="2240280" cy="4251960"/>
          </a:xfrm>
          <a:prstGeom prst="roundRect">
            <a:avLst>
              <a:gd name="adj" fmla="val 2449"/>
            </a:avLst>
          </a:prstGeom>
          <a:solidFill>
            <a:srgbClr val="112B43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</a:rPr>
              <a:t>Squad virtual especializado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2212848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Arquiteto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Tech Lead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Analista de Negócios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Backend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Frontend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QA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Tech Writer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PM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</a:rPr>
              <a:t>Finance Advisor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8072" y="2057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D3B3"/>
                </a:solidFill>
              </a:rPr>
              <a:t>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56048" y="2606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A"/>
                </a:solidFill>
              </a:rPr>
              <a:t>agentes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88352" y="2057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DB7FF"/>
                </a:solidFill>
              </a:rPr>
              <a:t>10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205472" y="2606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A"/>
                </a:solidFill>
              </a:rPr>
              <a:t>fases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56648" y="2057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B134"/>
                </a:solidFill>
              </a:rPr>
              <a:t>24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99448" y="26060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A"/>
                </a:solidFill>
              </a:rPr>
              <a:t>steps automatizados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0" y="3794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9 checkpoints humanos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290304" y="425196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B8C4D0"/>
                </a:solidFill>
              </a:rPr>
              <a:t>Cada handoff relevante passa por approval gate e registro de decisão.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4663440" y="594360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8C4D0"/>
                </a:solidFill>
              </a:rPr>
              <a:t>A proposta de valor não é “autonomia cega”; é throughput com controle operacional.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ForgeSquad opera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camada de orquestração que conecta interface, pipeline, agentes e governança.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664208"/>
            <a:ext cx="10469880" cy="4297680"/>
          </a:xfrm>
          <a:prstGeom prst="roundRect">
            <a:avLst>
              <a:gd name="adj" fmla="val 1277"/>
            </a:avLst>
          </a:prstGeom>
          <a:solidFill>
            <a:srgbClr val="0E253B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148840"/>
            <a:ext cx="1828800" cy="2331720"/>
          </a:xfrm>
          <a:prstGeom prst="roundRect">
            <a:avLst>
              <a:gd name="adj" fmla="val 3000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9304" y="23317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134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9304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Interface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9304" y="3246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B8C4D0"/>
                </a:solidFill>
              </a:rPr>
              <a:t>CLI, IDE plugin, dashboard e API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611880" y="2148840"/>
            <a:ext cx="1828800" cy="2331720"/>
          </a:xfrm>
          <a:prstGeom prst="roundRect">
            <a:avLst>
              <a:gd name="adj" fmla="val 3000"/>
            </a:avLst>
          </a:prstGeom>
          <a:solidFill>
            <a:srgbClr val="112B43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58184" y="23317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D3B3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58184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Orquestração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58184" y="3246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B8C4D0"/>
                </a:solidFill>
              </a:rPr>
              <a:t>pipeline runner, squad manager e routing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1828800" cy="2331720"/>
          </a:xfrm>
          <a:prstGeom prst="roundRect">
            <a:avLst>
              <a:gd name="adj" fmla="val 3000"/>
            </a:avLst>
          </a:prstGeom>
          <a:solidFill>
            <a:srgbClr val="0D2236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23317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B7FF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27064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Execução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27064" y="3246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B8C4D0"/>
                </a:solidFill>
              </a:rPr>
              <a:t>agentes especializados e skills por função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549640" y="2148840"/>
            <a:ext cx="1828800" cy="2331720"/>
          </a:xfrm>
          <a:prstGeom prst="roundRect">
            <a:avLst>
              <a:gd name="adj" fmla="val 3000"/>
            </a:avLst>
          </a:prstGeom>
          <a:solidFill>
            <a:srgbClr val="0E2740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5944" y="23317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5DCE3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95944" y="2743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</a:rPr>
              <a:t>Governança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95944" y="3246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B8C4D0"/>
                </a:solidFill>
              </a:rPr>
              <a:t>approval gates, audit trail e evidências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3108960" y="29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134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77840" y="29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134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46720" y="2926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134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54406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Resultado esperado: engenharia mais previsível, auditável e replicável sem trocar todo o stack que a empresa já usa.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para a empresa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benefício é combinar aceleração com governança — especialmente onde conformidade e previsibilidade importam.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440680" cy="4434840"/>
          </a:xfrm>
          <a:prstGeom prst="roundRect">
            <a:avLst>
              <a:gd name="adj" fmla="val 1237"/>
            </a:avLst>
          </a:prstGeom>
          <a:solidFill>
            <a:srgbClr val="0D2236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645920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</a:rPr>
              <a:t>Benefícios de negócio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46634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7480" indent="-157480">
              <a:buSzPct val="100000"/>
              <a:buChar char="•"/>
            </a:pPr>
            <a:r>
              <a:rPr lang="en-US" sz="15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 atrito operacional entre etapas do ciclo de engenharia.</a:t>
            </a:r>
            <a:endParaRPr lang="en-US" sz="1550" dirty="0"/>
          </a:p>
          <a:p>
            <a:pPr marL="157480" indent="-157480">
              <a:buSzPct val="100000"/>
              <a:buChar char="•"/>
            </a:pPr>
            <a:r>
              <a:rPr lang="en-US" sz="15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 previsibilidade de execução e visibilidade para gestão.</a:t>
            </a:r>
            <a:endParaRPr lang="en-US" sz="1550" dirty="0"/>
          </a:p>
          <a:p>
            <a:pPr marL="157480" indent="-157480">
              <a:buSzPct val="100000"/>
              <a:buChar char="•"/>
            </a:pPr>
            <a:r>
              <a:rPr lang="en-US" sz="15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Padroniza artefatos, documentação e critérios de aprovação.</a:t>
            </a:r>
            <a:endParaRPr lang="en-US" sz="1550" dirty="0"/>
          </a:p>
          <a:p>
            <a:pPr marL="157480" indent="-157480">
              <a:buSzPct val="100000"/>
              <a:buChar char="•"/>
            </a:pPr>
            <a:r>
              <a:rPr lang="en-US" sz="15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Favorece auditoria, accountability e histórico de decisão.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83680" y="1874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D3B3"/>
                </a:solidFill>
              </a:rPr>
              <a:t>Por que isso importa em ambientes regulados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2976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7480" indent="-157480">
              <a:buSzPct val="100000"/>
              <a:buChar char="•"/>
            </a:pPr>
            <a:r>
              <a:rPr lang="en-US" sz="15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Aprovação humana explícita nos pontos críticos.</a:t>
            </a:r>
            <a:endParaRPr lang="en-US" sz="1550" dirty="0"/>
          </a:p>
          <a:p>
            <a:pPr marL="157480" indent="-157480">
              <a:buSzPct val="100000"/>
              <a:buChar char="•"/>
            </a:pPr>
            <a:r>
              <a:rPr lang="en-US" sz="15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Rastreabilidade por artefato, agente, fase e decisão.</a:t>
            </a:r>
            <a:endParaRPr lang="en-US" sz="1550" dirty="0"/>
          </a:p>
          <a:p>
            <a:pPr marL="157480" indent="-157480">
              <a:buSzPct val="100000"/>
              <a:buChar char="•"/>
            </a:pPr>
            <a:r>
              <a:rPr lang="en-US" sz="15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favorável a políticas internas e evidências de compliance.</a:t>
            </a:r>
            <a:endParaRPr lang="en-US" sz="1550" dirty="0"/>
          </a:p>
          <a:p>
            <a:pPr marL="157480" indent="-157480">
              <a:buSzPct val="100000"/>
              <a:buChar char="•"/>
            </a:pPr>
            <a:r>
              <a:rPr lang="en-US" sz="155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para escalar delivery sem perder controle.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de uso prioritários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melhor entrada comercial é começar por fluxos onde repetibilidade, governança e documentação agregam valor imediato.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783080"/>
            <a:ext cx="2011680" cy="3611880"/>
          </a:xfrm>
          <a:prstGeom prst="roundRect">
            <a:avLst>
              <a:gd name="adj" fmla="val 2727"/>
            </a:avLst>
          </a:prstGeom>
          <a:solidFill>
            <a:srgbClr val="0D2236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751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96112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F5F7FA"/>
                </a:solidFill>
              </a:rPr>
              <a:t>Modernização de legado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896112" y="3090672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B8C4D0"/>
                </a:solidFill>
              </a:rPr>
              <a:t>Mapear arquitetura atual, priorizar componentes e acelerar trilhas de modernização com documentação e checkpoints.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3456432" y="1783080"/>
            <a:ext cx="2011680" cy="3611880"/>
          </a:xfrm>
          <a:prstGeom prst="roundRect">
            <a:avLst>
              <a:gd name="adj" fmla="val 2727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19751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D3B3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02736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F5F7FA"/>
                </a:solidFill>
              </a:rPr>
              <a:t>APIs reguladas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3602736" y="3090672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B8C4D0"/>
                </a:solidFill>
              </a:rPr>
              <a:t>Estruturar requisitos, arquitetura, implementação e evidências para APIs com exigência de conformidade e revisão.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163056" y="1783080"/>
            <a:ext cx="2011680" cy="3611880"/>
          </a:xfrm>
          <a:prstGeom prst="roundRect">
            <a:avLst>
              <a:gd name="adj" fmla="val 2727"/>
            </a:avLst>
          </a:prstGeom>
          <a:solidFill>
            <a:srgbClr val="0D2236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751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B7FF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F5F7FA"/>
                </a:solidFill>
              </a:rPr>
              <a:t>Sustentação inteligente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6309360" y="3090672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B8C4D0"/>
                </a:solidFill>
              </a:rPr>
              <a:t>Analisar codebase, registrar contexto e apoiar correções, melhorias e handoffs com rastreabilidade.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8869680" y="1783080"/>
            <a:ext cx="2011680" cy="3611880"/>
          </a:xfrm>
          <a:prstGeom prst="roundRect">
            <a:avLst>
              <a:gd name="adj" fmla="val 2727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5984" y="19751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5DCE3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15984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F5F7FA"/>
                </a:solidFill>
              </a:rPr>
              <a:t>Fábrica de software governada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9015984" y="3090672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B8C4D0"/>
                </a:solidFill>
              </a:rPr>
              <a:t>Padronizar squads, artefatos e aprovações para múltiplos projetos com visão centralizada de execução.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ForgeSquad trabalha com o ecossistema que o mercado já usa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proposta não é substituir suas ferramentas; é transformá-las em uma operação coordenada de engenharia.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840480" cy="4389120"/>
          </a:xfrm>
          <a:prstGeom prst="roundRect">
            <a:avLst>
              <a:gd name="adj" fmla="val 1429"/>
            </a:avLst>
          </a:prstGeom>
          <a:solidFill>
            <a:srgbClr val="0C2234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00600" y="1691640"/>
            <a:ext cx="6720840" cy="4389120"/>
          </a:xfrm>
          <a:prstGeom prst="roundRect">
            <a:avLst>
              <a:gd name="adj" fmla="val 1250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B134"/>
                </a:solidFill>
              </a:rPr>
              <a:t>Exemplos de integração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</a:rPr>
              <a:t>Devin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</a:rPr>
              <a:t>GitHub Copilot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</a:rPr>
              <a:t>Kiro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</a:rPr>
              <a:t>Jira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</a:rPr>
              <a:t>SonarQube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</a:rPr>
              <a:t>StackSpot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</a:rPr>
              <a:t>+ ferramentas internas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4920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5ED3B3"/>
                </a:solidFill>
              </a:rPr>
              <a:t>O que diferencia o ForgeSquad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074920" y="2304288"/>
            <a:ext cx="585216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4432" indent="-154432">
              <a:buSzPct val="100000"/>
              <a:buChar char="•"/>
            </a:pPr>
            <a:r>
              <a:rPr lang="en-US" sz="152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papéis de squad, handoffs e checkpoints em um fluxo único.</a:t>
            </a:r>
            <a:endParaRPr lang="en-US" sz="1520" dirty="0"/>
          </a:p>
          <a:p>
            <a:pPr marL="154432" indent="-154432">
              <a:buSzPct val="100000"/>
              <a:buChar char="•"/>
            </a:pPr>
            <a:r>
              <a:rPr lang="en-US" sz="152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execução técnica com aprovação humana e evidência auditável.</a:t>
            </a:r>
            <a:endParaRPr lang="en-US" sz="1520" dirty="0"/>
          </a:p>
          <a:p>
            <a:pPr marL="154432" indent="-154432">
              <a:buSzPct val="100000"/>
              <a:buChar char="•"/>
            </a:pPr>
            <a:r>
              <a:rPr lang="en-US" sz="152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criar templates e packs por domínio, stack ou política corporativa.</a:t>
            </a:r>
            <a:endParaRPr lang="en-US" sz="1520" dirty="0"/>
          </a:p>
          <a:p>
            <a:pPr marL="154432" indent="-154432">
              <a:buSzPct val="100000"/>
              <a:buChar char="•"/>
            </a:pPr>
            <a:r>
              <a:rPr lang="en-US" sz="1520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Mantém a empresa dona do modelo operacional, e não refém de uma única ferramenta.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começar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recomendação é iniciar com um piloto delimitado, métricas claras e um fluxo onde o ganho possa ser medido.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41248" y="1828800"/>
            <a:ext cx="2148840" cy="3520440"/>
          </a:xfrm>
          <a:prstGeom prst="roundRect">
            <a:avLst>
              <a:gd name="adj" fmla="val 2553"/>
            </a:avLst>
          </a:prstGeom>
          <a:solidFill>
            <a:srgbClr val="0D2236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F5F7FA"/>
                </a:solidFill>
              </a:rPr>
              <a:t>Escolher o fluxo</a:t>
            </a:r>
            <a:endParaRPr lang="en-US" sz="1610" dirty="0"/>
          </a:p>
        </p:txBody>
      </p:sp>
      <p:sp>
        <p:nvSpPr>
          <p:cNvPr id="7" name="Text 5"/>
          <p:cNvSpPr/>
          <p:nvPr/>
        </p:nvSpPr>
        <p:spPr>
          <a:xfrm>
            <a:off x="1005840" y="309067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B8C4D0"/>
                </a:solidFill>
              </a:rPr>
              <a:t>ex.: API regulada, modernização ou sustentação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3639312" y="1828800"/>
            <a:ext cx="2148840" cy="3520440"/>
          </a:xfrm>
          <a:prstGeom prst="roundRect">
            <a:avLst>
              <a:gd name="adj" fmla="val 2553"/>
            </a:avLst>
          </a:prstGeom>
          <a:solidFill>
            <a:srgbClr val="10283E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03904" y="20116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D3B3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03904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F5F7FA"/>
                </a:solidFill>
              </a:rPr>
              <a:t>Definir baseline</a:t>
            </a:r>
            <a:endParaRPr lang="en-US" sz="1610" dirty="0"/>
          </a:p>
        </p:txBody>
      </p:sp>
      <p:sp>
        <p:nvSpPr>
          <p:cNvPr id="11" name="Text 9"/>
          <p:cNvSpPr/>
          <p:nvPr/>
        </p:nvSpPr>
        <p:spPr>
          <a:xfrm>
            <a:off x="3803904" y="309067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B8C4D0"/>
                </a:solidFill>
              </a:rPr>
              <a:t>lead time, retrabalho, aprovações e defeitos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6437376" y="1828800"/>
            <a:ext cx="2148840" cy="3520440"/>
          </a:xfrm>
          <a:prstGeom prst="roundRect">
            <a:avLst>
              <a:gd name="adj" fmla="val 2553"/>
            </a:avLst>
          </a:prstGeom>
          <a:solidFill>
            <a:srgbClr val="0E2740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0116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DB7FF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01968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F5F7FA"/>
                </a:solidFill>
              </a:rPr>
              <a:t>Executar piloto</a:t>
            </a:r>
            <a:endParaRPr lang="en-US" sz="1610" dirty="0"/>
          </a:p>
        </p:txBody>
      </p:sp>
      <p:sp>
        <p:nvSpPr>
          <p:cNvPr id="15" name="Text 13"/>
          <p:cNvSpPr/>
          <p:nvPr/>
        </p:nvSpPr>
        <p:spPr>
          <a:xfrm>
            <a:off x="6601968" y="309067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B8C4D0"/>
                </a:solidFill>
              </a:rPr>
              <a:t>backlog delimitado, checkpoints e evidências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9235440" y="1828800"/>
            <a:ext cx="2148840" cy="3520440"/>
          </a:xfrm>
          <a:prstGeom prst="roundRect">
            <a:avLst>
              <a:gd name="adj" fmla="val 2553"/>
            </a:avLst>
          </a:prstGeom>
          <a:solidFill>
            <a:srgbClr val="112B43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0032" y="20116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5DCE3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00032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F5F7FA"/>
                </a:solidFill>
              </a:rPr>
              <a:t>Publicar resultado</a:t>
            </a:r>
            <a:endParaRPr lang="en-US" sz="1610" dirty="0"/>
          </a:p>
        </p:txBody>
      </p:sp>
      <p:sp>
        <p:nvSpPr>
          <p:cNvPr id="19" name="Text 17"/>
          <p:cNvSpPr/>
          <p:nvPr/>
        </p:nvSpPr>
        <p:spPr>
          <a:xfrm>
            <a:off x="9400032" y="309067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B8C4D0"/>
                </a:solidFill>
              </a:rPr>
              <a:t>caso com ganhos, limites e próximos passos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914400" y="56235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F5F7FA"/>
                </a:solidFill>
              </a:rPr>
              <a:t>Métricas mínimas recomendadas: lead time por fase • tempo até aprovação • retrabalho • defeitos pós-release • custo por artefato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566928"/>
            <a:ext cx="3182112" cy="5074920"/>
          </a:xfrm>
          <a:prstGeom prst="rect">
            <a:avLst/>
          </a:prstGeom>
          <a:solidFill>
            <a:srgbClr val="0E2A42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134"/>
                </a:solidFill>
              </a:rPr>
              <a:t>Mensagens finais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ForgeSquad organiza agentes, ferramentas e pessoas em um modelo de engenharia mais previsível, governável e rastreável.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0"/>
                </a:solidFill>
              </a:rPr>
              <a:t>Para empresas que operam sob exigência de qualidade, compliance e escala, a proposta não é apenas acelerar. É acelerar com controle.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3794760"/>
            <a:ext cx="1051560" cy="274320"/>
          </a:xfrm>
          <a:prstGeom prst="rect">
            <a:avLst/>
          </a:prstGeom>
          <a:solidFill>
            <a:srgbClr val="F2B134"/>
          </a:solidFill>
          <a:ln>
            <a:solidFill>
              <a:srgbClr val="F2B134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3794760"/>
            <a:ext cx="1097280" cy="274320"/>
          </a:xfrm>
          <a:prstGeom prst="rect">
            <a:avLst/>
          </a:prstGeom>
          <a:solidFill>
            <a:srgbClr val="5ED3B3"/>
          </a:solidFill>
          <a:ln>
            <a:solidFill>
              <a:srgbClr val="5ED3B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auditável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3240" y="3794760"/>
            <a:ext cx="1097280" cy="274320"/>
          </a:xfrm>
          <a:prstGeom prst="rect">
            <a:avLst/>
          </a:prstGeom>
          <a:solidFill>
            <a:srgbClr val="7DB7FF"/>
          </a:solidFill>
          <a:ln>
            <a:solidFill>
              <a:srgbClr val="7DB7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escalável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</a:rPr>
              <a:t>Próximo passo recomendado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9808" y="49194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B8C4D0"/>
                </a:solidFill>
              </a:rPr>
              <a:t>Selecionar um fluxo prioritário e estruturar um piloto executivo com baseline, checkpoints e critério claro de sucesso.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577072" y="4617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Bruno Oliveira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F5F7FA"/>
                </a:solidFill>
              </a:rPr>
              <a:t>NTT DATA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366760" y="5230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B8C4D0"/>
                </a:solidFill>
              </a:rPr>
              <a:t>Solicite uma demonstração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B8C4D0"/>
                </a:solidFill>
              </a:rPr>
              <a:t>ou workshop de discovery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1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ForgeSquad - material executivo final</dc:title>
  <dc:subject>Final commercial deck</dc:subject>
  <dc:creator>OpenAI</dc:creator>
  <cp:lastModifiedBy>OpenAI</cp:lastModifiedBy>
  <cp:revision>1</cp:revision>
  <dcterms:created xsi:type="dcterms:W3CDTF">2026-03-18T18:57:27Z</dcterms:created>
  <dcterms:modified xsi:type="dcterms:W3CDTF">2026-03-18T18:57:27Z</dcterms:modified>
</cp:coreProperties>
</file>