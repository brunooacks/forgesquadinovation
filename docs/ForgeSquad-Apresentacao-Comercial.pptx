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4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no Oliveira (da) Silva" userId="6b5daf82-9c51-493b-800d-a8f9d0c6b12d" providerId="ADAL" clId="{2EDB4C67-0B3D-5371-A40F-55BDB3EA059D}"/>
    <pc:docChg chg="modSld">
      <pc:chgData name="Bruno Oliveira (da) Silva" userId="6b5daf82-9c51-493b-800d-a8f9d0c6b12d" providerId="ADAL" clId="{2EDB4C67-0B3D-5371-A40F-55BDB3EA059D}" dt="2026-03-18T14:59:08.690" v="7" actId="1076"/>
      <pc:docMkLst>
        <pc:docMk/>
      </pc:docMkLst>
      <pc:sldChg chg="modSp mod">
        <pc:chgData name="Bruno Oliveira (da) Silva" userId="6b5daf82-9c51-493b-800d-a8f9d0c6b12d" providerId="ADAL" clId="{2EDB4C67-0B3D-5371-A40F-55BDB3EA059D}" dt="2026-03-18T14:59:08.690" v="7" actId="1076"/>
        <pc:sldMkLst>
          <pc:docMk/>
          <pc:sldMk cId="0" sldId="265"/>
        </pc:sldMkLst>
        <pc:spChg chg="mod">
          <ac:chgData name="Bruno Oliveira (da) Silva" userId="6b5daf82-9c51-493b-800d-a8f9d0c6b12d" providerId="ADAL" clId="{2EDB4C67-0B3D-5371-A40F-55BDB3EA059D}" dt="2026-03-18T14:59:08.690" v="7" actId="1076"/>
          <ac:spMkLst>
            <pc:docMk/>
            <pc:sldMk cId="0" sldId="265"/>
            <ac:spMk id="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6666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ForgeSquad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097280" y="22860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primeiro framework de orquestracao multi-agente para engenharia de software completa.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elicitacao de requisitos ate a producao — com squads de IA especializados.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926080" y="3566160"/>
            <a:ext cx="3291840" cy="411480"/>
          </a:xfrm>
          <a:prstGeom prst="roundRect">
            <a:avLst>
              <a:gd name="adj" fmla="val 33333"/>
            </a:avLst>
          </a:prstGeom>
          <a:solidFill>
            <a:srgbClr val="1A1A2E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2926080" y="3566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Apresentacao Comercial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DATA  |  ForgeSquad Innovation Lab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que Resolvemos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19456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Fragmentacao de Ferramentas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usam 8-15 ferramentas desconectadas no ciclo de vida de software. Cada uma com seu silo de informacao.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651760" cy="219456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5176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47472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Entrega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82880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do tempo de um projeto e gasto em coordenacao, handoffs e retrabalho — nao em codigo.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219456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5176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30936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Consultoria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82880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Consultorias tradicionais cobram por hora/pessoa. O modelo nao escala e os custos sao imprevisiveis.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</a:t>
            </a: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Projetos atrasam, orcamentos estouram e a qualidade sofre. ForgeSquad resolve isso com automacao inteligente de ponta a ponta.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 o ForgeSquad?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framework que cria squads de agentes de IA para executar o ciclo completo de engenharia de software — automaticamente.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965960" cy="1828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96596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9436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Especializados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1828800"/>
            <a:ext cx="1965960" cy="1828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2606040" y="1828800"/>
            <a:ext cx="196596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260604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27432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do Pipeline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828800"/>
            <a:ext cx="1965960" cy="1828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754880" y="1828800"/>
            <a:ext cx="196596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75488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89204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Automatizados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03720" y="1828800"/>
            <a:ext cx="1965960" cy="1828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903720" y="1828800"/>
            <a:ext cx="196596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90372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704088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Humanos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Composicao do Squad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2697480" cy="10972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 sistema, ADRs, decisoes tecnicas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46120" y="1051560"/>
            <a:ext cx="2697480" cy="10972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3246120" y="105156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0" y="11887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Coordenacao tecnica, code review, sprint planning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1051560"/>
            <a:ext cx="2697480" cy="10972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6126480" y="105156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263640" y="11887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Negocios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Requisitos, user stories, criterios de aceite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31720"/>
            <a:ext cx="2697480" cy="10972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365760" y="23317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02920" y="2468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Backend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APIs, servicos, banco de dados, integracoes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2331720"/>
            <a:ext cx="2697480" cy="10972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3246120" y="23317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3383280" y="2468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Frontend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UI/UX, componentes, responsividade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2331720"/>
            <a:ext cx="2697480" cy="10972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6126480" y="23317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6263640" y="2468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Engineer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automacao, regressao, performance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611880"/>
            <a:ext cx="2697480" cy="10972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365760" y="361188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02920" y="37490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Writer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" y="4114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docs, runbooks, ADRs, release notes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46120" y="3611880"/>
            <a:ext cx="2697480" cy="10972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3246120" y="361188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3383280" y="37490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de Projeto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114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reports, metricas, riscos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26480" y="3611880"/>
            <a:ext cx="2697480" cy="10972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6126480" y="361188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6263640" y="37490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Advisor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63640" y="4114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Bacen/BIAN, Basel III/IV, LGPD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Framework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731520"/>
          </a:xfrm>
          <a:prstGeom prst="rect">
            <a:avLst/>
          </a:prstGeom>
          <a:solidFill>
            <a:srgbClr val="1E1E40"/>
          </a:solidFill>
          <a:ln w="12700">
            <a:solidFill>
              <a:srgbClr val="3A3A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914400" y="1325880"/>
            <a:ext cx="23012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2301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/ IDE Plugin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52800" y="1325880"/>
            <a:ext cx="23012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352800" y="1325880"/>
            <a:ext cx="2301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Web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91200" y="1325880"/>
            <a:ext cx="23012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791200" y="1325880"/>
            <a:ext cx="2301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8229600" cy="731520"/>
          </a:xfrm>
          <a:prstGeom prst="rect">
            <a:avLst/>
          </a:prstGeom>
          <a:solidFill>
            <a:srgbClr val="0F2922"/>
          </a:solidFill>
          <a:ln w="12700">
            <a:solidFill>
              <a:srgbClr val="1B5E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48640" y="1984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ORQUESTRACAO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914400" y="2240280"/>
            <a:ext cx="1691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14400" y="224028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Runner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2240280"/>
            <a:ext cx="1691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743200" y="224028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Manager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0" y="2240280"/>
            <a:ext cx="1691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572000" y="224028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 Engine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0" y="2240280"/>
            <a:ext cx="1691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6400800" y="224028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2A1F0A"/>
          </a:solidFill>
          <a:ln w="12700">
            <a:solidFill>
              <a:srgbClr val="5E431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48640" y="28986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914400" y="3154680"/>
            <a:ext cx="675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914400" y="3154680"/>
            <a:ext cx="67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727200" y="3154680"/>
            <a:ext cx="675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727200" y="3154680"/>
            <a:ext cx="67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Lead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540000" y="3154680"/>
            <a:ext cx="675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2540000" y="3154680"/>
            <a:ext cx="67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52800" y="3154680"/>
            <a:ext cx="675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3352800" y="3154680"/>
            <a:ext cx="67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65600" y="3154680"/>
            <a:ext cx="675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165600" y="3154680"/>
            <a:ext cx="67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978400" y="3154680"/>
            <a:ext cx="675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4978400" y="3154680"/>
            <a:ext cx="67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791200" y="3154680"/>
            <a:ext cx="675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5791200" y="3154680"/>
            <a:ext cx="67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04000" y="3154680"/>
            <a:ext cx="675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6604000" y="3154680"/>
            <a:ext cx="67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416800" y="3154680"/>
            <a:ext cx="6756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7416800" y="3154680"/>
            <a:ext cx="67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solidFill>
            <a:srgbClr val="2A0F0F"/>
          </a:solidFill>
          <a:ln w="12700">
            <a:solidFill>
              <a:srgbClr val="5E20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548640" y="38130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INTEGRACOES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914400" y="4069080"/>
            <a:ext cx="10820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914400" y="4069080"/>
            <a:ext cx="108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133600" y="4069080"/>
            <a:ext cx="10820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2133600" y="4069080"/>
            <a:ext cx="108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352800" y="4069080"/>
            <a:ext cx="10820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3352800" y="4069080"/>
            <a:ext cx="108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StackSpot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0" y="4069080"/>
            <a:ext cx="10820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4572000" y="4069080"/>
            <a:ext cx="108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91200" y="4069080"/>
            <a:ext cx="10820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5791200" y="4069080"/>
            <a:ext cx="108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10400" y="4069080"/>
            <a:ext cx="1082040" cy="347472"/>
          </a:xfrm>
          <a:prstGeom prst="rect">
            <a:avLst/>
          </a:prstGeom>
          <a:solidFill>
            <a:srgbClr val="0A0A14"/>
          </a:solidFill>
          <a:ln w="12700">
            <a:solidFill>
              <a:srgbClr val="3333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7010400" y="4069080"/>
            <a:ext cx="108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SonarQube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914400"/>
            <a:ext cx="3108960" cy="320040"/>
          </a:xfrm>
          <a:prstGeom prst="roundRect">
            <a:avLst>
              <a:gd name="adj" fmla="val 34286"/>
            </a:avLst>
          </a:prstGeom>
          <a:solidFill>
            <a:srgbClr val="0F2922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017520" y="914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SECAO TECNICA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 Tecnico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37160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ForgeSquad funciona por dentro — para engenheiros, por engenheiros.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Orquestracao de Agentes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8892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Skills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 Governance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 Dados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Agentes Funcionam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32004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Anatomia de um Agente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25603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agents/architect.agent.md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Arquiteto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Architect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model_tier: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opus (decisoes criticas)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participates_in: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phases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[web_search, code_analysis]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approval_required: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outputs: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system_design.md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adr-001.md ... adr-N.md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114800" cy="9144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84632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Persona Switching (Inline)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16002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LLM assume diferentes personas sequencialmente. Ideal para handoffs rapidos.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2240280"/>
            <a:ext cx="4114800" cy="9144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663440" y="22402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84632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Subagent Mode (Background)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26517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roda em processo separado com contexto isolado. Ideal para tarefas longas.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3291840"/>
            <a:ext cx="4114800" cy="9144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663440" y="329184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84632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Model Tier Routing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37033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para criticos, Sonnet para operacionais, Haiku para simples. Otimiza custo.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Runner — Mecanica Interna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32004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de Execucao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749040" cy="25603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pipeline.yaml simplificado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phases: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estimativa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finance-advisor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checkpoint: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approval_gate: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budget_approval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requisitos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agents: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[ba, architect]
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on_reject: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re-elicit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 de Checkpoints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1005840" cy="365760"/>
          </a:xfrm>
          <a:prstGeom prst="rect">
            <a:avLst/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754880" y="1645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035040" y="1645920"/>
            <a:ext cx="1371600" cy="365760"/>
          </a:xfrm>
          <a:prstGeom prst="rect">
            <a:avLst/>
          </a:prstGeom>
          <a:solidFill>
            <a:srgbClr val="2A1F0A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03504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GATE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80960" y="1645920"/>
            <a:ext cx="1005840" cy="365760"/>
          </a:xfrm>
          <a:prstGeom prst="rect">
            <a:avLst/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680960" y="1645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B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automatico: Pipeline para e notifica o humano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0" y="2697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/ Reject / Modify: 3 opcoes para o revisor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3108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on_reject: Pipeline volta ao step anterior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3520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log: Decisao, timestamp, reviewer, hash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3840480"/>
            <a:ext cx="3931920" cy="548640"/>
          </a:xfrm>
          <a:prstGeom prst="rect">
            <a:avLst/>
          </a:prstGeom>
          <a:solidFill>
            <a:srgbClr val="2A0F0F"/>
          </a:solidFill>
          <a:ln w="12700">
            <a:solidFill>
              <a:srgbClr val="5E20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846320" y="3840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artefato passa para a proxima fase sem aprovacao humana explicita.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— Rastreabilidade Total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34747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do Log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749040" cy="28346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audit-trail.json (append-only)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"evt_2026031700042",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"2026-03-17T14:32:01Z",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"phase": 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"architecture",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"agent": 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"architect",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"artifact": {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"hash": 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"sha256:a3f8b2c..."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"approval": {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"status": 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"approved",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"reviewer": 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"bruno.oliveira"
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75488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Garantias Tecnicas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114800" cy="658368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800600" y="16276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Imutabilidade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0600" y="1874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append-only. Nenhum registro pode ser alterado ou deletado apos escrita.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2331720"/>
            <a:ext cx="4114800" cy="658368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663440" y="233172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800600" y="24048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2651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artefato recebe hash SHA-256 no momento da criacao. Verificado em cada leitura.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3108960"/>
            <a:ext cx="4114800" cy="658368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4663440" y="310896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800600" y="318211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429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evento: quem fez, quando, qual agente, qual step, quem aprovou.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3886200"/>
            <a:ext cx="4114800" cy="658368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663440" y="388620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800600" y="39593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compativel com Bacen, LGPD (retencao), PCI DSS (log de acesso).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 Dados do Framework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34747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Organizacao de Arquivos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840230"/>
            <a:ext cx="3749040" cy="2406263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project/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_forgesquad/       </a:t>
            </a: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Core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config.yaml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_memory/       </a:t>
            </a: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Contexto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core/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skills/            </a:t>
            </a: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Plugins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devin/SKILL.md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copilot/SKILL.md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squads/            </a:t>
            </a: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Squads criados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forge-engineering/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squad.yaml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agents/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pipeline/
</a:t>
            </a:r>
            <a:endParaRPr lang="en-US" sz="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└── output/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75488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de Dados entre Camadas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554480"/>
            <a:ext cx="1828800" cy="411480"/>
          </a:xfrm>
          <a:prstGeom prst="rect">
            <a:avLst/>
          </a:prstGeom>
          <a:solidFill>
            <a:srgbClr val="1A1A40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75488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_memory/company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766560" y="1554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carregado em TODA execucao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2148840"/>
            <a:ext cx="1828800" cy="411480"/>
          </a:xfrm>
          <a:prstGeom prst="rect">
            <a:avLst/>
          </a:prstGeom>
          <a:solidFill>
            <a:srgbClr val="0F2922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54880" y="2148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squad.yaml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66560" y="2148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agentes + pipeline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2743200"/>
            <a:ext cx="1828800" cy="411480"/>
          </a:xfrm>
          <a:prstGeom prst="rect">
            <a:avLst/>
          </a:prstGeom>
          <a:solidFill>
            <a:srgbClr val="2A1F0A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75488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pipeline/steps/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76656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instrucoes de cada step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3337560"/>
            <a:ext cx="1828800" cy="411480"/>
          </a:xfrm>
          <a:prstGeom prst="rect">
            <a:avLst/>
          </a:prstGeom>
          <a:solidFill>
            <a:srgbClr val="2A0F0F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754880" y="3337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output/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66560" y="3337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artefatos gerados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931920"/>
            <a:ext cx="1828800" cy="411480"/>
          </a:xfrm>
          <a:prstGeom prst="rect">
            <a:avLst/>
          </a:prstGeom>
          <a:solidFill>
            <a:srgbClr val="1A0F2A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754880" y="3931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audit-trail.json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imutavel de todas as acoes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Engine — Extensibilidade via Plugins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27432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 uma Skill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74904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skills/devin/SKILL.md
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Devin
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development
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capabilities:
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autonomous_coding
  - bug_fixing
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
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when: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needs implementation
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interface:
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input: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+ context
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output: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URL + diff summary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566928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800600" y="11521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Padronizada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0060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Input/output definido em YAML. Pipeline Runner invoca qualquer skill.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783080"/>
            <a:ext cx="4114800" cy="566928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663440" y="17830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800600" y="18379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Hot-pluggable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20574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Adicione ou remova skills sem alterar o pipeline.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2468880"/>
            <a:ext cx="4114800" cy="566928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663440" y="24688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800600" y="2523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Composition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2743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podem chamar outras skills.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3154680"/>
            <a:ext cx="4114800" cy="566928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4663440" y="31546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800600" y="32095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Chain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34290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uma skill falha, usa alternativa automaticamente.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4206240"/>
            <a:ext cx="1051560" cy="320040"/>
          </a:xfrm>
          <a:prstGeom prst="roundRect">
            <a:avLst>
              <a:gd name="adj" fmla="val 22857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57200" y="420624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645920" y="4206240"/>
            <a:ext cx="1051560" cy="320040"/>
          </a:xfrm>
          <a:prstGeom prst="roundRect">
            <a:avLst>
              <a:gd name="adj" fmla="val 22857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645920" y="420624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834640" y="4206240"/>
            <a:ext cx="1051560" cy="320040"/>
          </a:xfrm>
          <a:prstGeom prst="roundRect">
            <a:avLst>
              <a:gd name="adj" fmla="val 22857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2834640" y="420624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StackSpot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023360" y="4206240"/>
            <a:ext cx="1051560" cy="320040"/>
          </a:xfrm>
          <a:prstGeom prst="roundRect">
            <a:avLst>
              <a:gd name="adj" fmla="val 22857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4023360" y="420624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Kiro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212080" y="4206240"/>
            <a:ext cx="1051560" cy="320040"/>
          </a:xfrm>
          <a:prstGeom prst="roundRect">
            <a:avLst>
              <a:gd name="adj" fmla="val 22857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5212080" y="420624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00800" y="4206240"/>
            <a:ext cx="1051560" cy="320040"/>
          </a:xfrm>
          <a:prstGeom prst="roundRect">
            <a:avLst>
              <a:gd name="adj" fmla="val 22857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6400800" y="420624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SonarQube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589520" y="4206240"/>
            <a:ext cx="1051560" cy="320040"/>
          </a:xfrm>
          <a:prstGeom prst="roundRect">
            <a:avLst>
              <a:gd name="adj" fmla="val 22857"/>
            </a:avLst>
          </a:prstGeom>
          <a:solidFill>
            <a:srgbClr val="1A1A1A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7589520" y="420624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Sua Tool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Engenharia — Modus Operandi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057400" y="10972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2057400" y="1097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0972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840480" y="1097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23560" y="10972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623560" y="1097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406640" y="10972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7406640" y="1097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Implementacao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18288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274320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057400" y="18288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057400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40480" y="18288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3840480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Documentacao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23560" y="18288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623560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06640" y="18288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7406640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27432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Automacao Total: 24 steps executam automaticamente sem intervencao humana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3200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9 checkpoints onde decisoes humanas sao obrigatorias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36576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Gates: Cada handoff entre agentes requer aprovacao explicita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Trail: Log append-only com hash SHA-256 para compliance regulatorio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Principais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114800" cy="105156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Criacao Automatica de Squads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Descreva seu projeto e o Arquiteto monta a equipe, seleciona ferramentas e configura o pipeline.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4114800" cy="105156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84632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Reversa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508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Analise codebases legado: identifica stack, mapeia arquitetura, documenta AS-IS.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286000"/>
            <a:ext cx="4114800" cy="105156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365760" y="228600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48640" y="2423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Financeiro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743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Advisor valida Bacen, BIAN v12, Basel III/IV, Open Finance, Pix, PCI DSS, LGPD.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2286000"/>
            <a:ext cx="4114800" cy="105156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846320" y="2423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Automaticos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2743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gera relatorios com progresso, metricas, riscos e projecao de timeline.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520440"/>
            <a:ext cx="4114800" cy="105156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365760" y="352044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48640" y="3657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Governanca e Auditoria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3977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imutavel com SHA-256, approval gates obrigatorios e rastreabilidade.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520440"/>
            <a:ext cx="4114800" cy="105156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846320" y="3657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Plugaveis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46320" y="3977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Integre qualquer ferramenta como skill: Devin, Copilot, StackSpot, Kiro, Jira.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Diferencial vs Consultorias Tradicionais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solidFill>
            <a:srgbClr val="1A1A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Dimensao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60320" y="1051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 Tradicional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0" y="1051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ForgeSquad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solidFill>
            <a:srgbClr val="11111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Custo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60320" y="1463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Por hora/pessoa (imprevisivel)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0" y="1463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Por projeto/resultado (previsivel)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Setup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0" y="18745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2-4 semanas para montar equipe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0" y="18745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Minutos para criar squad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286000"/>
            <a:ext cx="8229600" cy="411480"/>
          </a:xfrm>
          <a:prstGeom prst="rect">
            <a:avLst/>
          </a:prstGeom>
          <a:solidFill>
            <a:srgbClr val="11111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48640" y="22860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do Ciclo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60320" y="2286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Parcial (dev ou consultoria)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669280" y="2286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Completa (requisitos ate sustentacao)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560320" y="2697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Depende da senioridade individual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0" y="2697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Padronizada por best practices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108960"/>
            <a:ext cx="8229600" cy="411480"/>
          </a:xfrm>
          <a:prstGeom prst="rect">
            <a:avLst/>
          </a:prstGeom>
          <a:solidFill>
            <a:srgbClr val="11111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48640" y="3108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Documentacao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60320" y="3108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Muitas vezes negligenciada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0" y="3108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Gerada automaticamente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35204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56032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Consultor externo adicional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66928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Finance Advisor integrado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11111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48640" y="3931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560320" y="3931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Linear (mais pessoas = mais custo)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0" y="3931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Exponencial (replique squads)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4343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560320" y="4343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Processos manuais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0" y="4343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Audit trail imutavel, SHA-256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 para Grandes Empresas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02336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 Horizontal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Multi-Squad: Dezenas de squads simultaneos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Reutilizaveis: Por dominio (banking, fintech)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Federacao: Governanca centralizada, squads distribuidos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Marginal Zero: Novo squad nao requer contratacao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11480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8463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 Vertical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Complexidade: De microservicos a core banking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Profundidade: Best practices por industria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25603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Customizacao: Agentes adaptaveis ao contexto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30175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Memoria: Contexto persistente por squad e empresa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71600" y="3931920"/>
            <a:ext cx="6400800" cy="640080"/>
          </a:xfrm>
          <a:prstGeom prst="rect">
            <a:avLst/>
          </a:prstGeom>
          <a:solidFill>
            <a:srgbClr val="1A1A40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463040" y="39319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empresa com 50 projetos pode operar 50 squads simultaneamente com o mesmo custo operacional de 1 squad.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para Grandes Empresas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2697480" cy="15544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Hub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centralizado para C-level e PMO acompanharem todos os squads e metricas.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46120" y="1051560"/>
            <a:ext cx="2697480" cy="15544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3246120" y="105156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0" y="12344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Marketplace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600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Catalogo de templates pre-configurados por industria e stack.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1051560"/>
            <a:ext cx="2697480" cy="15544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6126480" y="105156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263640" y="12344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Agents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63640" y="1600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especificos: DBA Oracle, Especialista SAP, DevSecOps.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788920"/>
            <a:ext cx="2697480" cy="15544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365760" y="27889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02920" y="29718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&amp; RBAC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3337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Directory, SAML 2.0, roles por equipe. Compliance SOX/SOC2.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2788920"/>
            <a:ext cx="2697480" cy="15544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3246120" y="27889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3383280" y="29718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BI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3337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 de produtividade, velocity, quality gates, ROI.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2788920"/>
            <a:ext cx="2697480" cy="15544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6126480" y="27889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6263640" y="29718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Multi-Region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3337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em multiplas regioes. LGPD, GDPR, CCPA.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Uso Corporativos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114800" cy="16459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Modernizacao Core Banking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Migrar COBOL para microservicos cloud-native com compliance Bacen.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Reducao: 60% tempo | 45% custo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114800" cy="16459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846320" y="1234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Finance APIs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600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compliant com Open Finance Brasil. Documentacao automatica, BIAN v12.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2240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Time-to-market: 4x mais rapido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4114800" cy="16459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 de Software 2.0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4290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Substitua fabrica tradicional por squads de IA. Mesma qualidade, 1/10 do custo.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ROI: 10x em 12 meses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880360"/>
            <a:ext cx="4114800" cy="16459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663440" y="2880360"/>
            <a:ext cx="41148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846320" y="3063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Sustentacao Inteligente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4290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Squads que entendem o codebase via engenharia reversa automatica.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4069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MTTR: 70% menor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Evolutivo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078992"/>
            <a:ext cx="347472" cy="34747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51560" y="1005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Q1 — Foundation  ● ATUAL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2801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core, 9 agentes, pipeline 10 fases, dashboard, audit trail, Finance Advisor.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1560" y="150876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Engine  |  9 Agents  |  Audit Trail  | 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47472" cy="347472"/>
          </a:xfrm>
          <a:prstGeom prst="ellipse">
            <a:avLst/>
          </a:prstGeom>
          <a:solidFill>
            <a:srgbClr val="1A1A40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1560" y="17556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Q2 — Intelligence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0299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adaptativa, learning from feedback, otimizacao de pipelines, metricas preditivas.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225856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AI  |  ML Pipeline  |  Predictive Analytics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578608"/>
            <a:ext cx="347472" cy="347472"/>
          </a:xfrm>
          <a:prstGeom prst="ellipse">
            <a:avLst/>
          </a:prstGeom>
          <a:solidFill>
            <a:srgbClr val="1A1A40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02920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1560" y="250545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Q3 — Enterprise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77977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SSO/RBAC, multi-tenant, squad marketplace, custom agents, SAP/Oracle/Salesforce.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51560" y="3008376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SSO/RBAC  |  Multi-tenant  |  Marketplace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347472" cy="347472"/>
          </a:xfrm>
          <a:prstGeom prst="ellipse">
            <a:avLst/>
          </a:prstGeom>
          <a:solidFill>
            <a:srgbClr val="1A1A40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02920" y="3328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51560" y="325526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Q4 — Platform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5295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self-service, API publica, partner ecosystem, billing, white-label.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1560" y="3758184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 |  Public API  |  White-label  |  Partners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4078224"/>
            <a:ext cx="347472" cy="347472"/>
          </a:xfrm>
          <a:prstGeom prst="ellipse">
            <a:avLst/>
          </a:prstGeom>
          <a:solidFill>
            <a:srgbClr val="1A1A40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502920" y="4078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" y="40050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2027 — Autonomous Engineering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427939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Squads autonomos que aprendem, se auto-otimizam e propoem melhorias.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51560" y="4507992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Self-improving  |  Autonomous Squads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ForgeSquad e Diferente?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Consultorias Tradicionais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Vendem pessoas, nao resultados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Qualidade depende de quem aloca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Documentacao e custo extra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Compliance e projeto separado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Escalar = contratar mais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Knowledge loss quando sai gente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ForgeSquad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Vende resultado com rastreabilidade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920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Qualidade padronizada por framework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286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Documentacao automatica e nativa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2651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Compliance integrado no pipeline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3017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Escalar = duplicar squad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3383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Conhecimento persistente por projeto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840480"/>
            <a:ext cx="7315200" cy="640080"/>
          </a:xfrm>
          <a:prstGeom prst="rect">
            <a:avLst/>
          </a:prstGeom>
          <a:solidFill>
            <a:srgbClr val="0F2922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005840" y="38404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"Nao vendemos horas. Vendemos engenharia de software como servico — previsivel, auditavel e escalavel."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Valor para o C-Level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1097280"/>
            <a:ext cx="2743200" cy="29260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7432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/ VP Engineering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 ilimitada de delivery sem aumentar headcount.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Padronizacao arquitetural, quality gates automaticos, governance sem burocracia.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743200" cy="29260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7432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342900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/ Finance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Reducao de 60-80% no custo de desenvolvimento por feature.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29000" y="26517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previsivel por projeto, ROI mensuravel, eliminacao de overtime e retrabalho.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097280"/>
            <a:ext cx="2743200" cy="29260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6172200" y="1097280"/>
            <a:ext cx="2743200" cy="36576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35508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/ Board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Diferencial competitivo: time-to-market 4x mais rapido.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5080" y="26517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Inovacao acelerada, compliance garantido, risco operacional reduzido.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Construir Juntos?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371600" y="1645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ForgeSquad transforma a forma como empresas constroem software.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custo, mais velocidade, qualidade garantida, compliance nativo.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Reducao de Custo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0" y="25603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4x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0" y="3200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Rapido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0" y="25603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0" y="3200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Auditavel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28800" y="3749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Oliveira  |  NTT DATA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bruoacks@gmail.com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4434840"/>
            <a:ext cx="3291840" cy="411480"/>
          </a:xfrm>
          <a:prstGeom prst="roundRect">
            <a:avLst>
              <a:gd name="adj" fmla="val 33333"/>
            </a:avLst>
          </a:prstGeom>
          <a:solidFill>
            <a:srgbClr val="1A1A2E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2926080" y="4434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Solicite uma demonstracao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1941</Words>
  <Application>Microsoft Macintosh PowerPoint</Application>
  <PresentationFormat>Apresentação na tela (16:9)</PresentationFormat>
  <Paragraphs>367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4" baseType="lpstr">
      <vt:lpstr>Arial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ForgeSquad - Apresentacao Comercial 2026</dc:title>
  <dc:subject>PptxGenJS Presentation</dc:subject>
  <dc:creator>Bruno Oliveira</dc:creator>
  <cp:lastModifiedBy>Bruno Oliveira (da) Silva</cp:lastModifiedBy>
  <cp:revision>1</cp:revision>
  <dcterms:created xsi:type="dcterms:W3CDTF">2026-03-18T14:49:25Z</dcterms:created>
  <dcterms:modified xsi:type="dcterms:W3CDTF">2026-03-18T14:59:17Z</dcterms:modified>
</cp:coreProperties>
</file>