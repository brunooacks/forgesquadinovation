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6366F1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1200" y="3657600"/>
            <a:ext cx="3657600" cy="3657600"/>
          </a:xfrm>
          <a:prstGeom prst="ellipse">
            <a:avLst/>
          </a:prstGeom>
          <a:solidFill>
            <a:srgbClr val="06B6D4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1207008" cy="274320"/>
          </a:xfrm>
          <a:prstGeom prst="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77440" y="1371600"/>
            <a:ext cx="1284732" cy="274320"/>
          </a:xfrm>
          <a:prstGeom prst="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1371600"/>
            <a:ext cx="12847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PLAN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ForgeSquad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Plan Técnico para Investimento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de Orquestração Multi-Agente para Engenharia de Software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1051560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846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5349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Profissionais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4846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$3.6M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429000" y="5349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Ano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4846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309%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126480" y="5349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Esperado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23960" y="4846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 meses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823960" y="5349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Março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ForgeSquad — Business Plan Técnico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"/>
            <a:ext cx="1051560" cy="274320"/>
          </a:xfrm>
          <a:prstGeom prst="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572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investir agora?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custo de NÃO investir em AI-augmented engineering é maior que o investimento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01168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35-50% do tempo perdido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423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Desenvolvedores gastam metade do tempo em tarefas não-codificação: reuniões, documentação, busca de informação, espera por reviews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10698480" cy="914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06324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4-8 semanas por ciclo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474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requirements-to-deployment extremamente longo, com handoffs manuais entre equipes e retrabalho constante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11480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de retrabalho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mal definidos, código sem padronização e falta de quality gates geram custo de correção 10x maior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5166360"/>
            <a:ext cx="10698480" cy="914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516636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257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Perda de talentos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Desenvolvedores migram para empresas com melhores ferramentas. Custo de substituição: 1.5-2x salário anual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solidFill>
            <a:srgbClr val="1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5577840"/>
            <a:ext cx="54864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DA INAÇÃO: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0" y="5669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devs × 2h/dia desperdiçadas × 252 dias/ano × R$150/hora = R$45.4M/ano em produtividade perdida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ForgeSquad — Business Plan Técnico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"/>
            <a:ext cx="973836" cy="274320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57200"/>
            <a:ext cx="973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ForgeSquad: Plataforma de Orquestração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uma ferramenta de AI — é uma plataforma que orquestra 25 agentes especializados em todo o ciclo de desenvolvimento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011680"/>
            <a:ext cx="54864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DE INTELIGÊNCIA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377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· GitHub Copilot · Microsoft Copilot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10698480" cy="8229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017520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DE ORQUESTRAÇÃO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3383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Agentes · 10 Fases · 24 Steps · 9 Checkpoints · Audit Trail (SHA-256)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10698480" cy="8229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02336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DE SKILLS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4389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· ArgoCD · SonarQube · Snyk · Datadog · Jira · Figma · +15 integrações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5029200"/>
            <a:ext cx="10698480" cy="8229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502920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DE INFRAESTRUTURA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" y="5394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(ECS, Lambda, DynamoDB) · Azure (Container Apps, Functions, Cosmos DB) · Multi-Cloud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5989320"/>
            <a:ext cx="3383280" cy="365760"/>
          </a:xfrm>
          <a:prstGeom prst="rect">
            <a:avLst/>
          </a:prstGeom>
          <a:solidFill>
            <a:srgbClr val="0D1A0D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" y="5989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Human-in-the-Loop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89120" y="5989320"/>
            <a:ext cx="3200400" cy="365760"/>
          </a:xfrm>
          <a:prstGeom prst="rect">
            <a:avLst/>
          </a:prstGeom>
          <a:solidFill>
            <a:srgbClr val="0D1A0D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0" y="5989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Multi-Provider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63840" y="5989320"/>
            <a:ext cx="3566160" cy="365760"/>
          </a:xfrm>
          <a:prstGeom prst="rect">
            <a:avLst/>
          </a:prstGeom>
          <a:solidFill>
            <a:srgbClr val="0D1A0D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046720" y="5989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Compliance-Ready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ForgeSquad — Business Plan Técnico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"/>
            <a:ext cx="1207008" cy="274320"/>
          </a:xfrm>
          <a:prstGeom prst="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5720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 do Investimento — Ano 1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8229600" cy="7315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554480"/>
            <a:ext cx="54864" cy="7315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Licenças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1901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+ Code, GitHub Copilot Enterprise, M365 Copilot, Copilot Studio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0" y="1554480"/>
            <a:ext cx="2286000" cy="731520"/>
          </a:xfrm>
          <a:prstGeom prst="rect">
            <a:avLst/>
          </a:prstGeom>
          <a:solidFill>
            <a:srgbClr val="1E1E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$1.20M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 do total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" y="2423160"/>
            <a:ext cx="8229600" cy="7315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2423160"/>
            <a:ext cx="54864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496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 Cloud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7706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(ECS, Lambda, DynamoDB) + Azure (Container Apps, Functions, Cosmos DB) + Monitoring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00" y="2423160"/>
            <a:ext cx="2286000" cy="731520"/>
          </a:xfrm>
          <a:prstGeom prst="rect">
            <a:avLst/>
          </a:prstGeom>
          <a:solidFill>
            <a:srgbClr val="1E1E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$1.06M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 do total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1520" y="3291840"/>
            <a:ext cx="8229600" cy="7315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29184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de Plataforma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36393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profissionais: Platform Lead, Engineers, SRE, AI/ML, Security, PM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144000" y="3291840"/>
            <a:ext cx="2286000" cy="731520"/>
          </a:xfrm>
          <a:prstGeom prst="rect">
            <a:avLst/>
          </a:prstGeom>
          <a:solidFill>
            <a:srgbClr val="1E1E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0" y="3337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$0.88M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144000" y="3749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 do total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1520" y="4160520"/>
            <a:ext cx="8229600" cy="7315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1520" y="416052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4233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Qualidade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45079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SonarQube, Snyk, Vault, LaunchDarkly, PagerDuty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144000" y="4160520"/>
            <a:ext cx="2286000" cy="731520"/>
          </a:xfrm>
          <a:prstGeom prst="rect">
            <a:avLst/>
          </a:prstGeom>
          <a:solidFill>
            <a:srgbClr val="1E1E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14400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$0.16M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144000" y="4617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 do total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31520" y="5029200"/>
            <a:ext cx="8229600" cy="7315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1520" y="502920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9" name="Text 37"/>
          <p:cNvSpPr/>
          <p:nvPr/>
        </p:nvSpPr>
        <p:spPr>
          <a:xfrm>
            <a:off x="1005840" y="5102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05840" y="5376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Consultoria, treinamento (3 waves × 200 pessoas), change management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144000" y="5029200"/>
            <a:ext cx="2286000" cy="731520"/>
          </a:xfrm>
          <a:prstGeom prst="rect">
            <a:avLst/>
          </a:prstGeom>
          <a:solidFill>
            <a:srgbClr val="1E1E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144000" y="5074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$0.30M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9144000" y="5486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 do total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31520" y="5897880"/>
            <a:ext cx="10698480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5" name="Shape 43"/>
          <p:cNvSpPr/>
          <p:nvPr/>
        </p:nvSpPr>
        <p:spPr>
          <a:xfrm>
            <a:off x="731520" y="5989320"/>
            <a:ext cx="8138160" cy="411480"/>
          </a:xfrm>
          <a:prstGeom prst="rect">
            <a:avLst/>
          </a:prstGeom>
          <a:solidFill>
            <a:srgbClr val="1A102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005840" y="5989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TOTAL ANO 1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9144000" y="5989320"/>
            <a:ext cx="2286000" cy="411480"/>
          </a:xfrm>
          <a:prstGeom prst="rect">
            <a:avLst/>
          </a:prstGeom>
          <a:solidFill>
            <a:srgbClr val="1A102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144000" y="5989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$3.60M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ForgeSquad — Business Plan Técnico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"/>
            <a:ext cx="1517904" cy="274320"/>
          </a:xfrm>
          <a:prstGeom prst="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5720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CUSTO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Custo-Benefício por Desenvolvedor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2560320" cy="11887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$499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6868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Custo/dev/mês (Ano 1)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20440" y="1645920"/>
            <a:ext cx="2560320" cy="11887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5760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Custo/dev/mês (Ano 2+)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645920"/>
            <a:ext cx="2560320" cy="11887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4652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do salário médio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98280" y="1645920"/>
            <a:ext cx="2560320" cy="11887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35440" y="1783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3.1x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23544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Multiplicador produtiv.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200400"/>
            <a:ext cx="10698480" cy="30175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COMPARATIVO DE INVESTIMENTO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05840" y="3657600"/>
            <a:ext cx="10149840" cy="32004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ForgeSquad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7512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ForgeSquad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05840" y="4069080"/>
            <a:ext cx="10149840" cy="347472"/>
          </a:xfrm>
          <a:prstGeom prst="rect">
            <a:avLst/>
          </a:prstGeom>
          <a:solidFill>
            <a:srgbClr val="1A1A30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40690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para feature (média)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0" y="4069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semanas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75120" y="4069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semanas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144000" y="4069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-58%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" y="44165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cycle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0" y="44165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dias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75120" y="44165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dia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0" y="44165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-80%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05840" y="4764024"/>
            <a:ext cx="10149840" cy="347472"/>
          </a:xfrm>
          <a:prstGeom prst="rect">
            <a:avLst/>
          </a:prstGeom>
          <a:solidFill>
            <a:srgbClr val="1A1A30">
              <a:alpha val="5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097280" y="47640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em produção/mês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0" y="47640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incidentes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75120" y="47640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incidentes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144000" y="4764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-67%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97280" y="51114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novo dev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0" y="51114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 semanas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75120" y="51114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semana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144000" y="51114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-71%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05840" y="5458968"/>
            <a:ext cx="10149840" cy="347472"/>
          </a:xfrm>
          <a:prstGeom prst="rect">
            <a:avLst/>
          </a:prstGeom>
          <a:solidFill>
            <a:srgbClr val="1A1A30">
              <a:alpha val="5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097280" y="54589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técnica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114800" y="54589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(20h)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75120" y="54589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Auto-gerada (2h)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144000" y="54589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-90%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97280" y="58064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check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0" y="5806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semanas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675120" y="5806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Automático (1h)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144000" y="5806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-99%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ForgeSquad — Business Plan Técnico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"/>
            <a:ext cx="818388" cy="274320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57200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e Análise de Payback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cenários de ganho de produtividade sobre uma base de 600 desenvolvedores com salário médio de $70K/ano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920240"/>
            <a:ext cx="3474720" cy="3200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920240"/>
            <a:ext cx="54864" cy="3200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2057400"/>
            <a:ext cx="1129284" cy="274320"/>
          </a:xfrm>
          <a:prstGeom prst="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057400"/>
            <a:ext cx="112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CONSERVADOR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0" y="2468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Ganho de Produtividade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914400" y="3291840"/>
            <a:ext cx="310896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Gerado/Ano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032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$10.5M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3794760"/>
            <a:ext cx="310896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" y="4297680"/>
            <a:ext cx="310896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60320" y="4343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meses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80560" y="1920240"/>
            <a:ext cx="3474720" cy="3200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1920240"/>
            <a:ext cx="54864" cy="3200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4663440" y="2057400"/>
            <a:ext cx="1129284" cy="274320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2057400"/>
            <a:ext cx="112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RECOMENDADO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63440" y="2468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Ganho de Produtividade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6344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3200" dirty="0"/>
          </a:p>
        </p:txBody>
      </p:sp>
      <p:sp>
        <p:nvSpPr>
          <p:cNvPr id="31" name="Shape 29"/>
          <p:cNvSpPr/>
          <p:nvPr/>
        </p:nvSpPr>
        <p:spPr>
          <a:xfrm>
            <a:off x="4663440" y="3291840"/>
            <a:ext cx="310896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Gerado/Ano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$14.7M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3794760"/>
            <a:ext cx="310896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0936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309%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63440" y="4297680"/>
            <a:ext cx="310896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9360" y="4343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 meses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229600" y="1920240"/>
            <a:ext cx="3474720" cy="3200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29600" y="1920240"/>
            <a:ext cx="54864" cy="3200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2" name="Shape 40"/>
          <p:cNvSpPr/>
          <p:nvPr/>
        </p:nvSpPr>
        <p:spPr>
          <a:xfrm>
            <a:off x="8412480" y="2057400"/>
            <a:ext cx="973836" cy="274320"/>
          </a:xfrm>
          <a:prstGeom prst="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8412480" y="2057400"/>
            <a:ext cx="973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AGRESSIVO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412480" y="2468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Ganho de Produtividade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41248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3200" dirty="0"/>
          </a:p>
        </p:txBody>
      </p:sp>
      <p:sp>
        <p:nvSpPr>
          <p:cNvPr id="46" name="Shape 44"/>
          <p:cNvSpPr/>
          <p:nvPr/>
        </p:nvSpPr>
        <p:spPr>
          <a:xfrm>
            <a:off x="8412480" y="3291840"/>
            <a:ext cx="310896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4124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Gerado/Ano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05840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$21.0M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412480" y="3794760"/>
            <a:ext cx="310896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41248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05840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485%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412480" y="4297680"/>
            <a:ext cx="310896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841248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058400" y="4343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meses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solidFill>
            <a:srgbClr val="0D1A0D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31520" y="530352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1005840" y="5394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SENSIBILIDADE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005840" y="56692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Break-even: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apenas 8.5% de ganho de produtividade, o investimento já se paga.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de mercado: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reporta 55% de aumento com Copilot, McKinsey estima 30-50% com ferramentas AI. 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no pior cenário (15% de ganho), o ROI é de 76%.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ForgeSquad — Business Plan Técnico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"/>
            <a:ext cx="896112" cy="274320"/>
          </a:xfrm>
          <a:prstGeom prst="rect">
            <a:avLst>
              <a:gd name="adj" fmla="val 16667"/>
            </a:avLst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572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LICENÇAS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Detalhamento de Licenças e Providers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554480"/>
            <a:ext cx="10332720" cy="3657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Licença/Serviço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1554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$/unid/mês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$/mês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$/ano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2011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ARTIFICIAL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14400" y="2286000"/>
            <a:ext cx="10332720" cy="320040"/>
          </a:xfrm>
          <a:prstGeom prst="rect">
            <a:avLst/>
          </a:prstGeom>
          <a:solidFill>
            <a:srgbClr val="1A1A30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(Opus/Sonnet) — tokens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devs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$39,000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$468,000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" y="2606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Team/Enterprise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2606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seats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$24,000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0120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$288,000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0" y="2926080"/>
            <a:ext cx="10332720" cy="320040"/>
          </a:xfrm>
          <a:prstGeom prst="rect">
            <a:avLst/>
          </a:prstGeom>
          <a:solidFill>
            <a:srgbClr val="1A1A30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2926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Enterprise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0" y="2926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seats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4672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$23,400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60120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$280,800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05840" y="3246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365 Copilot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0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seats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0" y="3246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46720" y="3246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$6,000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60120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$72,000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14400" y="3566160"/>
            <a:ext cx="10332720" cy="320040"/>
          </a:xfrm>
          <a:prstGeom prst="rect">
            <a:avLst/>
          </a:prstGeom>
          <a:solidFill>
            <a:srgbClr val="1A1A30">
              <a:alpha val="5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005840" y="3566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Studio (instances)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29200" y="3566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0" y="3566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04672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60120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$24,000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05840" y="4023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914400" y="4297680"/>
            <a:ext cx="10332720" cy="320040"/>
          </a:xfrm>
          <a:prstGeom prst="rect">
            <a:avLst/>
          </a:prstGeom>
          <a:solidFill>
            <a:srgbClr val="1A1A30">
              <a:alpha val="5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005840" y="4297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SonarQube Enterprise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29200" y="4297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inst.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00800" y="4297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$1,667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46720" y="4297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$1,667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60120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$20,000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05840" y="4617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Snyk Enterprise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29200" y="4617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devs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00800" y="4617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046720" y="4617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$4,167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60120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$50,000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14400" y="4937760"/>
            <a:ext cx="10332720" cy="320040"/>
          </a:xfrm>
          <a:prstGeom prst="rect">
            <a:avLst/>
          </a:prstGeom>
          <a:solidFill>
            <a:srgbClr val="1A1A30">
              <a:alpha val="5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05840" y="4937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HashiCorp Vault Enterprise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029200" y="4937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cluster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400800" y="4937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$2,500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046720" y="4937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$2,500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601200" y="4937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$30,000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05840" y="5257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Datadog Pro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029200" y="5257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hosts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400800" y="5257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046720" y="5257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$8,000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601200" y="5257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$96,000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0" y="5760720"/>
            <a:ext cx="10332720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9" name="Text 67"/>
          <p:cNvSpPr/>
          <p:nvPr/>
        </p:nvSpPr>
        <p:spPr>
          <a:xfrm>
            <a:off x="100584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LICENÇAS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772400" y="5852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$110,734/mês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9601200" y="5852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$1,328,800/ano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ForgeSquad — Business Plan Técnico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"/>
            <a:ext cx="818388" cy="274320"/>
          </a:xfrm>
          <a:prstGeom prst="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57200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de Implementação — 12 Meses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2651760" cy="43891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1783080"/>
            <a:ext cx="896112" cy="274320"/>
          </a:xfrm>
          <a:prstGeom prst="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78308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FUNDAÇÃO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M1-M3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devs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83464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licenças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AWS + Azure (core)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10 squads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Skills: Copilot, Devin, Security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5669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66160" y="1645920"/>
            <a:ext cx="2651760" cy="43891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66160" y="1645920"/>
            <a:ext cx="54864" cy="43891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Shape 17"/>
          <p:cNvSpPr/>
          <p:nvPr/>
        </p:nvSpPr>
        <p:spPr>
          <a:xfrm>
            <a:off x="3749040" y="1783080"/>
            <a:ext cx="896112" cy="274320"/>
          </a:xfrm>
          <a:prstGeom prst="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178308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74904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M4-M6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4904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devs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03320" y="283464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Wave 2 (200 devs)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Skills: CI/CD, Observability, Testing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Novos agentes: Security, DevOps, Data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framework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49040" y="5669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1645920"/>
            <a:ext cx="2651760" cy="43891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1645920"/>
            <a:ext cx="54864" cy="4389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0" y="1783080"/>
            <a:ext cx="1051560" cy="274320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1783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MATURIDADE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8368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M7-M9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8368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devs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37960" y="283464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Wave 3 (200 devs)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multi-cloud deployment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Skills: ML/AI, Platform Engineering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integrations (ITSM)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83680" y="5669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235440" y="1645920"/>
            <a:ext cx="2651760" cy="43891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235440" y="1645920"/>
            <a:ext cx="54864" cy="4389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Shape 33"/>
          <p:cNvSpPr/>
          <p:nvPr/>
        </p:nvSpPr>
        <p:spPr>
          <a:xfrm>
            <a:off x="9418320" y="1783080"/>
            <a:ext cx="1207008" cy="274320"/>
          </a:xfrm>
          <a:prstGeom prst="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9418320" y="178308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TOTAL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41832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M10-M12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41832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devs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372600" y="283464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Wave 4 (100 devs)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capabilities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operacional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418320" y="5669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31520" y="5989320"/>
            <a:ext cx="10698480" cy="1371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42" name="Shape 40"/>
          <p:cNvSpPr/>
          <p:nvPr/>
        </p:nvSpPr>
        <p:spPr>
          <a:xfrm>
            <a:off x="731520" y="5989320"/>
            <a:ext cx="1069848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62179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Go/No-Go gate entre cada fase — investimento progressivo com validação de resultados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ForgeSquad — Business Plan Técnico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"/>
            <a:ext cx="1051560" cy="274320"/>
          </a:xfrm>
          <a:prstGeom prst="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572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 3 ANOS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 of Ownership — Projeção 3 Anos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10698480" cy="2926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554480"/>
            <a:ext cx="10332720" cy="3657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3504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8096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2688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3 Anos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011680"/>
            <a:ext cx="10332720" cy="365760"/>
          </a:xfrm>
          <a:prstGeom prst="rect">
            <a:avLst/>
          </a:prstGeom>
          <a:solidFill>
            <a:srgbClr val="1A1A30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Licenças AI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$1.20M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$1.20M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8096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$1.20M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2688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$3.61M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 Cloud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$1.06M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$1.06M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8096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$1.06M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32688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$3.17M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" y="2743200"/>
            <a:ext cx="10332720" cy="365760"/>
          </a:xfrm>
          <a:prstGeom prst="rect">
            <a:avLst/>
          </a:prstGeom>
          <a:solidFill>
            <a:srgbClr val="1A1A30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Plataforma (12)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8912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$0.88M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3504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$0.88M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8096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$0.88M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32688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$2.63M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Qualidade/Seg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89120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$0.16M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$0.16M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80960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$0.16M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32688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$0.48M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14400" y="3474720"/>
            <a:ext cx="10332720" cy="365760"/>
          </a:xfrm>
          <a:prstGeom prst="rect">
            <a:avLst/>
          </a:prstGeom>
          <a:solidFill>
            <a:srgbClr val="1A1A30">
              <a:alpha val="5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00584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389120" y="3474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$0.30M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35040" y="3474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680960" y="3474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326880" y="3474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$0.30M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14400" y="3886200"/>
            <a:ext cx="10332720" cy="1828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5" name="Text 43"/>
          <p:cNvSpPr/>
          <p:nvPr/>
        </p:nvSpPr>
        <p:spPr>
          <a:xfrm>
            <a:off x="100584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389120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$3.60M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35040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$3.30M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680960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$3.30M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326880" y="3977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$10.19M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31520" y="4572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sobre Investimento em 3 Anos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31520" y="4937760"/>
            <a:ext cx="2560320" cy="11887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68680" y="5074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$10.19M</a:t>
            </a:r>
            <a:endParaRPr lang="en-US" sz="2800" dirty="0"/>
          </a:p>
        </p:txBody>
      </p:sp>
      <p:sp>
        <p:nvSpPr>
          <p:cNvPr id="53" name="Text 51"/>
          <p:cNvSpPr/>
          <p:nvPr/>
        </p:nvSpPr>
        <p:spPr>
          <a:xfrm>
            <a:off x="868680" y="5669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Total (3 anos)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520440" y="4937760"/>
            <a:ext cx="2560320" cy="11887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3657600" y="5074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$44.1M</a:t>
            </a:r>
            <a:endParaRPr lang="en-US" sz="2800" dirty="0"/>
          </a:p>
        </p:txBody>
      </p:sp>
      <p:sp>
        <p:nvSpPr>
          <p:cNvPr id="56" name="Text 54"/>
          <p:cNvSpPr/>
          <p:nvPr/>
        </p:nvSpPr>
        <p:spPr>
          <a:xfrm>
            <a:off x="3657600" y="5669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Total (3 anos, 35%)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309360" y="4937760"/>
            <a:ext cx="2560320" cy="11887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446520" y="5074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$33.9M</a:t>
            </a:r>
            <a:endParaRPr lang="en-US" sz="2800" dirty="0"/>
          </a:p>
        </p:txBody>
      </p:sp>
      <p:sp>
        <p:nvSpPr>
          <p:cNvPr id="59" name="Text 57"/>
          <p:cNvSpPr/>
          <p:nvPr/>
        </p:nvSpPr>
        <p:spPr>
          <a:xfrm>
            <a:off x="6446520" y="5669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 Líquido (3 anos)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098280" y="4937760"/>
            <a:ext cx="2560320" cy="11887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9235440" y="5074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333%</a:t>
            </a:r>
            <a:endParaRPr lang="en-US" sz="2800" dirty="0"/>
          </a:p>
        </p:txBody>
      </p:sp>
      <p:sp>
        <p:nvSpPr>
          <p:cNvPr id="62" name="Text 60"/>
          <p:cNvSpPr/>
          <p:nvPr/>
        </p:nvSpPr>
        <p:spPr>
          <a:xfrm>
            <a:off x="9235440" y="5669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Acumulado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ForgeSquad — Business Plan Técnico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"/>
            <a:ext cx="740664" cy="274320"/>
          </a:xfrm>
          <a:prstGeom prst="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57200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Riscos e Mitigações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554480"/>
            <a:ext cx="10332720" cy="3657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1208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3504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Mitigação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2011680"/>
            <a:ext cx="10332720" cy="502920"/>
          </a:xfrm>
          <a:prstGeom prst="rect">
            <a:avLst/>
          </a:prstGeom>
          <a:solidFill>
            <a:srgbClr val="1A1A30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Resistência à adoção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0" y="2057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1208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35040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network, treinamento hands-on, quick wins visíveis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Aumento de preço providers 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97680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12080" y="2560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35040" y="2560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Multi-provider (Claude + Copilot + Azure OpenAI) — sem lock-in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4400" y="3017520"/>
            <a:ext cx="10332720" cy="502920"/>
          </a:xfrm>
          <a:prstGeom prst="rect">
            <a:avLst/>
          </a:prstGeom>
          <a:solidFill>
            <a:srgbClr val="1A1A30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Vazamento de dados para LLMs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9768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12080" y="3063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35040" y="3063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endpoints, data masking, políticas de não-retenção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Indisponibilidade de API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97680" y="3566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12080" y="3566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3504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multi-provider, circuit breakers, graceful degradation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14400" y="4023360"/>
            <a:ext cx="10332720" cy="502920"/>
          </a:xfrm>
          <a:prstGeom prst="rect">
            <a:avLst/>
          </a:prstGeom>
          <a:solidFill>
            <a:srgbClr val="1A1A30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Escassez de skills AI/Platform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97680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12080" y="4069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35040" y="4069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interno de capacitação, parcerias com universidades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0584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Mudanças regulatórias (IA)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97680" y="4572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12080" y="4572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3504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officer dedicado, monitoramento de legislação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14400" y="5029200"/>
            <a:ext cx="10332720" cy="502920"/>
          </a:xfrm>
          <a:prstGeom prst="rect">
            <a:avLst/>
          </a:prstGeom>
          <a:solidFill>
            <a:srgbClr val="1A1A30">
              <a:alpha val="5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005840" y="5074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overrun infraestrutura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297680" y="5074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12080" y="5074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035040" y="5074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FinOps contínuo, alertas de custo, reserved instances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05840" y="5577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 qualidade de output AI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297680" y="5577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12080" y="5577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035040" y="5577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Human-in-the-loop, quality gates, feedback loops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31520" y="6080760"/>
            <a:ext cx="10698480" cy="320040"/>
          </a:xfrm>
          <a:prstGeom prst="rect">
            <a:avLst/>
          </a:prstGeom>
          <a:solidFill>
            <a:srgbClr val="0D1A0D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 de Go/No-Go entre fases reduz risco financeiro — investimento incremental com validação de resultados a cada 3 meses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ForgeSquad — Business Plan Técnico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"/>
            <a:ext cx="1051560" cy="274320"/>
          </a:xfrm>
          <a:prstGeom prst="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572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Governança e Métricas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de Governança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828800"/>
            <a:ext cx="5303520" cy="640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828800"/>
            <a:ext cx="54864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8745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 COMMITTEE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2103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+ VPs + Diretor Eng. — Decisões estratégicas, budget approval, Go/No-Go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560320"/>
            <a:ext cx="5303520" cy="640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560320"/>
            <a:ext cx="54864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6060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OF EXCELLENCE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2834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Lead + AI Leads — Standards, best practices, skill curation, KPIs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3291840"/>
            <a:ext cx="5303520" cy="6400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291840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33756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LEADS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" y="3566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Leads das squads — Adoption, feedback, continuous improvement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de Sucesso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1828800"/>
            <a:ext cx="5120640" cy="4572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Frequency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77824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755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24128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Diário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09360" y="2377440"/>
            <a:ext cx="5120640" cy="4572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9224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for Changes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778240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 dias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87552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241280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dia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09360" y="2926080"/>
            <a:ext cx="5120640" cy="4572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9224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77824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4-8 horas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87552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24128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hora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09360" y="3474720"/>
            <a:ext cx="5120640" cy="4572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9224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Failure Rate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778240" y="3520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15-20%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87552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241280" y="3520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09360" y="4023360"/>
            <a:ext cx="5120640" cy="4572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92240" y="4069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Satisfaction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778240" y="4069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3.2/5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87552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241280" y="4069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4.5/5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09360" y="4572000"/>
            <a:ext cx="5120640" cy="4572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492240" y="4617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Rate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778240" y="4617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87552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241280" y="4617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90%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152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de Decisão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31520" y="4572000"/>
            <a:ext cx="10698480" cy="5029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31520" y="4572000"/>
            <a:ext cx="54864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6" name="Text 54"/>
          <p:cNvSpPr/>
          <p:nvPr/>
        </p:nvSpPr>
        <p:spPr>
          <a:xfrm>
            <a:off x="100584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→ 2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468880" y="4617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≥80% adoption pilot, NPS &gt;4.0, ROI positivo em squads piloto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31520" y="5166360"/>
            <a:ext cx="10698480" cy="5029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31520" y="5166360"/>
            <a:ext cx="54864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0" name="Text 58"/>
          <p:cNvSpPr/>
          <p:nvPr/>
        </p:nvSpPr>
        <p:spPr>
          <a:xfrm>
            <a:off x="1005840" y="5212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→ 3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468880" y="52120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≥85% adoption 300 devs, DORA metrics melhorados ≥20%, custos dentro do budget ±10%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31520" y="5760720"/>
            <a:ext cx="10698480" cy="5029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31520" y="576072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4" name="Text 62"/>
          <p:cNvSpPr/>
          <p:nvPr/>
        </p:nvSpPr>
        <p:spPr>
          <a:xfrm>
            <a:off x="1005840" y="5806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→ 4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2468880" y="58064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≥90% adoption 500 devs, ROI ≥150%, zero incidentes críticos de segurança AI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6366F1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06B6D4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731520"/>
            <a:ext cx="896112" cy="274320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315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PEDIDO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Solicitado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solidFill>
            <a:srgbClr val="1A102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94560"/>
            <a:ext cx="54864" cy="12801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— APROVAÇÃO IMEDIATA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2194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$890K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05840" y="2651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desenvolvedores · 10 squads piloto · 3 meses · Licenças AI + Infra core + Equipe plataforma (4 pessoas)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5120640" cy="822960"/>
          </a:xfrm>
          <a:prstGeom prst="rect">
            <a:avLst/>
          </a:prstGeom>
          <a:solidFill>
            <a:srgbClr val="0D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657600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2-3 — APÓS VALIDAÇÃO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+$1.8M (300→500 devs, 6 meses)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3657600"/>
            <a:ext cx="5394960" cy="822960"/>
          </a:xfrm>
          <a:prstGeom prst="rect">
            <a:avLst/>
          </a:prstGeom>
          <a:solidFill>
            <a:srgbClr val="0D0D1A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365760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 — ESCALA TOTAL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+$910K (600 devs, 3 meses)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agora?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Concorrentes já investem (Accenture: $3B em AI, Deloitte: $2B)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de APIs AI caindo 50-70% ao ano — investir agora captura vantagem competitiva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MVP validado — risco técnico já foi mitigado na prova de conceito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mês de atraso = R$3.8M em produtividade perdida (600 devs × 2h/dia)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ForgeSquad — Business Plan Técnico · Março 2026 · CONFIDENCIAL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ForgeSquad — Business Plan Técnico para Investimento</dc:title>
  <dc:subject>PptxGenJS Presentation</dc:subject>
  <dc:creator>ForgeSquad</dc:creator>
  <cp:lastModifiedBy>ForgeSquad</cp:lastModifiedBy>
  <cp:revision>1</cp:revision>
  <dcterms:created xsi:type="dcterms:W3CDTF">2026-03-20T20:01:03Z</dcterms:created>
  <dcterms:modified xsi:type="dcterms:W3CDTF">2026-03-20T20:01:03Z</dcterms:modified>
</cp:coreProperties>
</file>