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Estrategica do BAU de Engenharia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400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DATA  |  Confidencial  |  Marco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286000" cy="45720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BAU Esta Sob Ameaca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Reducao estimada nos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body shop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R$50M+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97680" y="2834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anual em risco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banking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383280" cy="2926080"/>
          </a:xfrm>
          <a:prstGeom prst="roundRect">
            <a:avLst>
              <a:gd name="adj" fmla="val 4688"/>
            </a:avLst>
          </a:prstGeom>
          <a:solidFill>
            <a:srgbClr val="1B28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46720" y="1645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meses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8046720" y="2834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reacao antes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corte irreversivel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Consultorias concorrentes ja se movimentaram. A janela esta fechando.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Clientes Vao Perguntar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10058400" cy="164592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55448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"Por que preciso de 50 devs se posso ter 15 devs + AI?"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9601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e grandes empresas ja avaliam reducao de 40-60% dos times contratados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AI coding (Cursor, Copilot, Claude) tornam o body shop obsoleto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 que nao se adaptarem serao substituidos em 12-18 meses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ForgeSquad: Metodologia, Nao Ferramenta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Orquestra 11 agentes AI no ciclo completo de software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Aplica code review, testes, security e deploy automatizados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Gera audit trail completo com SHA-256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Padroniza quality gates enterprise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303520" cy="4389120"/>
          </a:xfrm>
          <a:prstGeom prst="roundRect">
            <a:avLst>
              <a:gd name="adj" fmla="val 3125"/>
            </a:avLst>
          </a:prstGeom>
          <a:solidFill>
            <a:srgbClr val="1B283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371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 NTT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83680" y="20116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IP proprietario NTT DATA (nao depende de vendor)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Roda 100% local — zero dados saem do ambiente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Capabilities model: troca de AI sem refatorar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Compliance e governance built-in desde o dia 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Modelo Comercial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4572000" cy="2743200"/>
          </a:xfrm>
          <a:prstGeom prst="roundRect">
            <a:avLst>
              <a:gd name="adj" fmla="val 5000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206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devs x R$/hora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15%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120640" y="219456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6583680" y="1371600"/>
            <a:ext cx="4937760" cy="2743200"/>
          </a:xfrm>
          <a:prstGeom prst="roundRect">
            <a:avLst>
              <a:gd name="adj" fmla="val 5000"/>
            </a:avLst>
          </a:prstGeom>
          <a:solidFill>
            <a:srgbClr val="1B28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devs + ForgeSquad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35%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Estrategico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4754880"/>
            <a:ext cx="9144000" cy="1097280"/>
          </a:xfrm>
          <a:prstGeom prst="roundRect">
            <a:avLst>
              <a:gd name="adj" fmla="val 12500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48463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sobe de 15% para 35% — com MENOS headcount e MAIS valor entregue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Numeros Que Importam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1B28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630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por squad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humanos + 11 agentes AI)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1B283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0" y="146304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0" y="14630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Reducao 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8404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56032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bugs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producao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1B28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38404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0" y="38404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Financeiro — Por Squad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201168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371600"/>
            <a:ext cx="32004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2860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3716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2004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3716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Observacao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201168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2011680"/>
            <a:ext cx="32004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011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devs full-time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011680"/>
            <a:ext cx="22860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01168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R$375K/mes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011680"/>
            <a:ext cx="32004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0116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shop puro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651760"/>
            <a:ext cx="201168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6517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ForgeSquad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2651760"/>
            <a:ext cx="32004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humanos + 11 agentes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43600" y="2651760"/>
            <a:ext cx="22860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265176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R$180K/mes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0" y="2651760"/>
            <a:ext cx="3200400" cy="59436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65176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produtividade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1520" y="3291840"/>
            <a:ext cx="201168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291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3291840"/>
            <a:ext cx="32004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2860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3291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R$195K/mes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229600" y="3291840"/>
            <a:ext cx="3200400" cy="59436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R$2.3M/ano por squad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371600" y="4389120"/>
            <a:ext cx="9144000" cy="1463040"/>
          </a:xfrm>
          <a:prstGeom prst="roundRect">
            <a:avLst>
              <a:gd name="adj" fmla="val 9375"/>
            </a:avLst>
          </a:prstGeom>
          <a:solidFill>
            <a:srgbClr val="1B28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554480" y="4480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R$27M/ano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5212080" y="4480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cenario Itau (escala 375 squads)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projetada anual com adocao em larga escala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Posicionamento vs Concorrencia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1188720"/>
            <a:ext cx="41148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188720"/>
            <a:ext cx="41148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11887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1783080"/>
            <a:ext cx="41148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genericos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1783080"/>
            <a:ext cx="41148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783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governance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0" y="2468880"/>
            <a:ext cx="41148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shop + Copilot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2468880"/>
            <a:ext cx="41148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4688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nao resolve arquitetura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22860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926080" y="3154680"/>
            <a:ext cx="41148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0" y="3154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proprietarias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3154680"/>
            <a:ext cx="4114800" cy="640080"/>
          </a:xfrm>
          <a:prstGeom prst="rect">
            <a:avLst/>
          </a:prstGeom>
          <a:solidFill>
            <a:srgbClr val="141E2D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3154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Lock-in, custo alto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Capgemini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26080" y="3840480"/>
            <a:ext cx="41148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0" y="3840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generica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40880" y="3840480"/>
            <a:ext cx="41148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38404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 estruturado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526280"/>
            <a:ext cx="2286000" cy="640080"/>
          </a:xfrm>
          <a:prstGeom prst="rect">
            <a:avLst/>
          </a:prstGeom>
          <a:solidFill>
            <a:srgbClr val="1A274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526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NTT + ForgeSquad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926080" y="4526280"/>
            <a:ext cx="4114800" cy="640080"/>
          </a:xfrm>
          <a:prstGeom prst="rect">
            <a:avLst/>
          </a:prstGeom>
          <a:solidFill>
            <a:srgbClr val="1A274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4526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Methodology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40880" y="4526280"/>
            <a:ext cx="4114800" cy="640080"/>
          </a:xfrm>
          <a:prstGeom prst="rect">
            <a:avLst/>
          </a:prstGeom>
          <a:solidFill>
            <a:srgbClr val="1A2747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526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Aberto, adaptavel, com governance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Diferenciais ForgeSquad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28016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 intelectual NTT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35331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100% local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51960" y="135331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model (qualquer AI)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0" y="135331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06840" y="128016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012680" y="135331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12680" y="1353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0233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SHA-256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71600" y="373075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37160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36576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40233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agentes (ciclo completo)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251960" y="373075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36576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63640" y="40233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Metodologias enterprise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132320" y="373075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06840" y="3657600"/>
            <a:ext cx="2651760" cy="2011680"/>
          </a:xfrm>
          <a:prstGeom prst="roundRect">
            <a:avLst>
              <a:gd name="adj" fmla="val 6818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144000" y="40233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standard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012680" y="3730752"/>
            <a:ext cx="502920" cy="5029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10012680" y="3730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Acao — 90 Dias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B2838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Interno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 NTT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 reais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produtividade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280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8056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Cliente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squad Itau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 gratuito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Comparacao A/B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1280160"/>
            <a:ext cx="3566160" cy="4114800"/>
          </a:xfrm>
          <a:prstGeom prst="roundRect">
            <a:avLst>
              <a:gd name="adj" fmla="val 3846"/>
            </a:avLst>
          </a:prstGeom>
          <a:solidFill>
            <a:srgbClr val="1B28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2801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2104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Expansao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7432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documentados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comercial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planejado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Mitigacoes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substitui devs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Amplifica, nao substitui. Devs fazem mais, com menos esforco.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55080" y="146304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55080" y="1965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Seguranca de codigo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100% local, zero dados saem do ambiente do cliente.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9319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vendor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4937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Capabilities model abstrai providers. Troca sem refatorar.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5080" y="39319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dos devs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55080" y="49377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Superpoder, nao ameaca. Devs viram 2.5x mais produtivos.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09728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515600" cy="822960"/>
          </a:xfrm>
          <a:prstGeom prst="roundRect">
            <a:avLst>
              <a:gd name="adj" fmla="val 16667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piloto interno ForgeSquad (1 squad NTT, 30 dias)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0515600" cy="822960"/>
          </a:xfrm>
          <a:prstGeom prst="roundRect">
            <a:avLst>
              <a:gd name="adj" fmla="val 16667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514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3774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squad-alvo e metricas de sucesso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0515600" cy="822960"/>
          </a:xfrm>
          <a:prstGeom prst="roundRect">
            <a:avLst>
              <a:gd name="adj" fmla="val 16667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383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proposta de piloto ao Itau (30 dias gratuito)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10515600" cy="822960"/>
          </a:xfrm>
          <a:prstGeom prst="roundRect">
            <a:avLst>
              <a:gd name="adj" fmla="val 16667"/>
            </a:avLst>
          </a:prstGeom>
          <a:solidFill>
            <a:srgbClr val="1B2838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3891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para modelo comercial com base nos resultados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10515600" cy="914400"/>
          </a:xfrm>
          <a:prstGeom prst="roundRect">
            <a:avLst>
              <a:gd name="adj" fmla="val 15000"/>
            </a:avLst>
          </a:prstGeom>
          <a:solidFill>
            <a:srgbClr val="1C101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38100" dir="16200000">
              <a:srgbClr val="000000">
                <a:alpha val="4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548640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se NAO fizermos nada: perda de R$50M+ em 24 meses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ForgeSquad - Defesa BAU</dc:subject>
  <dc:creator>NTT DATA</dc:creator>
  <cp:lastModifiedBy>NTT DATA</cp:lastModifiedBy>
  <cp:revision>1</cp:revision>
  <dcterms:created xsi:type="dcterms:W3CDTF">2026-03-23T03:09:28Z</dcterms:created>
  <dcterms:modified xsi:type="dcterms:W3CDTF">2026-03-23T03:09:28Z</dcterms:modified>
</cp:coreProperties>
</file>