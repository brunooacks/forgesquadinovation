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ForgeSquad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AI-Augmented para o Itau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3474720"/>
            <a:ext cx="21945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 |  Proposta Estrategica  |  Marco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em Uma Frase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828800"/>
          </a:xfrm>
          <a:prstGeom prst="rect">
            <a:avLst>
              <a:gd name="adj" fmla="val 50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o time-to-market em 60% e custos em 45%, mantendo compliance Bacen e rastreabilidade total</a:t>
            </a:r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 mandar uma linha de codigo para fora.</a:t>
            </a:r>
            <a:pPr algn="ctr" indent="0" marL="0">
              <a:buNone/>
            </a:pPr>
            <a:r>
              <a:rPr lang="en-US" sz="4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920240" cy="548640"/>
          </a:xfrm>
          <a:prstGeom prst="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exfiltracao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3383280"/>
            <a:ext cx="1920240" cy="548640"/>
          </a:xfrm>
          <a:prstGeom prst="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nativo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3383280"/>
            <a:ext cx="1920240" cy="548640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gratuito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0" y="3383280"/>
            <a:ext cx="1920240" cy="548640"/>
          </a:xfrm>
          <a:prstGeom prst="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15-50x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ForgeSquad NAO E Uma Plataforma de Mercado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2377440"/>
          </a:xfrm>
          <a:prstGeom prst="rect">
            <a:avLst>
              <a:gd name="adj" fmla="val 3846"/>
            </a:avLst>
          </a:prstGeom>
          <a:solidFill>
            <a:srgbClr val="1A1020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457200"/>
          </a:xfrm>
          <a:prstGeom prst="rect">
            <a:avLst>
              <a:gd name="adj" fmla="val 10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SaaS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Plataforma externa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Dependente de internet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Vendor lock-in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840480" cy="2377440"/>
          </a:xfrm>
          <a:prstGeom prst="rect">
            <a:avLst>
              <a:gd name="adj" fmla="val 3846"/>
            </a:avLst>
          </a:prstGeom>
          <a:solidFill>
            <a:srgbClr val="0A1A15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3840480" cy="457200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Arquivos markdown/YAML locais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Metodologia de engenharia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Roda dentro do 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auditavel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822960"/>
          </a:xfrm>
          <a:prstGeom prst="rect">
            <a:avLst>
              <a:gd name="adj" fmla="val 1111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 como um playbook de engenharia — a forma como o time usa as ferramentas que o banco JA aprovou."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Dentro do Itau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3291840"/>
          </a:xfrm>
          <a:prstGeom prst="rect">
            <a:avLst>
              <a:gd name="adj" fmla="val 4167"/>
            </a:avLst>
          </a:prstGeom>
          <a:solidFill>
            <a:srgbClr val="0D1326"/>
          </a:solidFill>
          <a:ln w="25400">
            <a:solidFill>
              <a:srgbClr val="6366F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ITAU — REDE INTERNA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6400800" cy="731520"/>
          </a:xfrm>
          <a:prstGeom prst="rect">
            <a:avLst>
              <a:gd name="adj" fmla="val 125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do Desenvolvedor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ForgeSquad Framework (arquivos locais)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560320"/>
            <a:ext cx="6400800" cy="731520"/>
          </a:xfrm>
          <a:prstGeom prst="rect">
            <a:avLst>
              <a:gd name="adj" fmla="val 125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/ Modelo on-premise / API via proxy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566160"/>
            <a:ext cx="6400800" cy="731520"/>
          </a:xfrm>
          <a:prstGeom prst="rect">
            <a:avLst>
              <a:gd name="adj" fmla="val 125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566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Itau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SonarQube, Jenkins, Azure DevOps, Vault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4434840"/>
            <a:ext cx="3657600" cy="411480"/>
          </a:xfrm>
          <a:prstGeom prst="rect">
            <a:avLst>
              <a:gd name="adj" fmla="val 48889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dados saem da rede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Adapta-se as Ferramentas do Banco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 Itau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autonomous_coding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/ modelo interno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pair_programming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interno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/ Azure Bicep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Dynatrace / Grafana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Squad Completo — 11 Agentes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480560" cy="365760"/>
          </a:xfrm>
          <a:prstGeom prst="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(always)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0604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74920" y="1097280"/>
            <a:ext cx="3429000" cy="365760"/>
          </a:xfrm>
          <a:prstGeom prst="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10972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Loop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6364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Frontend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Loop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Loop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732520" y="1097280"/>
            <a:ext cx="2377440" cy="365760"/>
          </a:xfrm>
          <a:prstGeom prst="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73252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6968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86968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6112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92124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92124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Writer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01268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268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338560" y="1097280"/>
            <a:ext cx="2377440" cy="365760"/>
          </a:xfrm>
          <a:prstGeom prst="rect">
            <a:avLst>
              <a:gd name="adj" fmla="val 12500"/>
            </a:avLst>
          </a:prstGeom>
          <a:solidFill>
            <a:srgbClr val="94A3B8"/>
          </a:solidFill>
          <a:ln/>
        </p:spPr>
      </p:sp>
      <p:sp>
        <p:nvSpPr>
          <p:cNvPr id="47" name="Text 45"/>
          <p:cNvSpPr/>
          <p:nvPr/>
        </p:nvSpPr>
        <p:spPr>
          <a:xfrm>
            <a:off x="1133856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147572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47572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156716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51" name="Text 49"/>
          <p:cNvSpPr/>
          <p:nvPr/>
        </p:nvSpPr>
        <p:spPr>
          <a:xfrm>
            <a:off x="1156716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2527280" y="1600200"/>
            <a:ext cx="960120" cy="1463040"/>
          </a:xfrm>
          <a:prstGeom prst="rect">
            <a:avLst>
              <a:gd name="adj" fmla="val 9524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2527280" y="16916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Advisor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2618720" y="2560320"/>
            <a:ext cx="777240" cy="320040"/>
          </a:xfrm>
          <a:prstGeom prst="rect">
            <a:avLst>
              <a:gd name="adj" fmla="val 42857"/>
            </a:avLst>
          </a:pr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1261872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No DNA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011680" cy="2286000"/>
          </a:xfrm>
          <a:prstGeom prst="rect">
            <a:avLst>
              <a:gd name="adj" fmla="val 4545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Bacen CMN 4.893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SHA-256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total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anos retencao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2011680" cy="2286000"/>
          </a:xfrm>
          <a:prstGeom prst="rect">
            <a:avLst>
              <a:gd name="adj" fmla="val 4545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188720"/>
            <a:ext cx="20116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coleta de dados pessoais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embedded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2286000"/>
          </a:xfrm>
          <a:prstGeom prst="rect">
            <a:avLst>
              <a:gd name="adj" fmla="val 4545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obrigatorio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Segregacao de ambientes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2011680" cy="2286000"/>
          </a:xfrm>
          <a:prstGeom prst="rect">
            <a:avLst>
              <a:gd name="adj" fmla="val 4545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1887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documentados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548640"/>
          </a:xfrm>
          <a:prstGeom prst="rect">
            <a:avLst>
              <a:gd name="adj" fmla="val 16667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compliance nao e um add-on — esta em cada etapa do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Implementacao Zero Risco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468880"/>
            <a:ext cx="80467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554480" cy="1005840"/>
          </a:xfrm>
          <a:prstGeom prst="rect">
            <a:avLst>
              <a:gd name="adj" fmla="val 909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1097280" cy="320040"/>
          </a:xfrm>
          <a:prstGeom prst="rect">
            <a:avLst>
              <a:gd name="adj" fmla="val 48571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34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33172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2103120" y="1188720"/>
            <a:ext cx="1554480" cy="1005840"/>
          </a:xfrm>
          <a:prstGeom prst="rect">
            <a:avLst>
              <a:gd name="adj" fmla="val 909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1 squad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33172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188720"/>
            <a:ext cx="1554480" cy="1005840"/>
          </a:xfrm>
          <a:prstGeom prst="rect">
            <a:avLst>
              <a:gd name="adj" fmla="val 909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squads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233172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577840" y="1188720"/>
            <a:ext cx="1554480" cy="1005840"/>
          </a:xfrm>
          <a:prstGeom prst="rect">
            <a:avLst>
              <a:gd name="adj" fmla="val 909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squads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18120" y="233172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1188720"/>
            <a:ext cx="1554480" cy="1005840"/>
          </a:xfrm>
          <a:prstGeom prst="rect">
            <a:avLst>
              <a:gd name="adj" fmla="val 909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1234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squads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Projetado — Cenario Itau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2743200"/>
          </a:xfrm>
          <a:prstGeom prst="rect">
            <a:avLst>
              <a:gd name="adj" fmla="val 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457200"/>
          </a:xfrm>
          <a:prstGeom prst="rect">
            <a:avLst>
              <a:gd name="adj" fmla="val 1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produtividade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R$31M/ano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15x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2743200"/>
          </a:xfrm>
          <a:prstGeom prst="rect">
            <a:avLst>
              <a:gd name="adj" fmla="val 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3840480" cy="457200"/>
          </a:xfrm>
          <a:prstGeom prst="rect">
            <a:avLst>
              <a:gd name="adj" fmla="val 10000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produtividade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R$103M/ano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50x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100 squads  |  800 devs  |  R$18K/dev/mes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as Principais Objecoes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>
              <a:gd name="adj" fmla="val 1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"Nao adotamos plataformas"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1887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1887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arquivos locais, nao plataforma. Nada para instalar, nada para aprovar.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685800"/>
          </a:xfrm>
          <a:prstGeom prst="rect">
            <a:avLst>
              <a:gd name="adj" fmla="val 1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659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"Seguranca e prioridade"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965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0" y="1965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local, AI on-premise possivel. Zero dados saem da rede.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685800"/>
          </a:xfrm>
          <a:prstGeom prst="rect">
            <a:avLst>
              <a:gd name="adj" fmla="val 1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 temos Copilot/SonarQube"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27432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ForgeSquad orquestra essas ferramentas, nao substitui nenhuma.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685800"/>
          </a:xfrm>
          <a:prstGeom prst="rect">
            <a:avLst>
              <a:gd name="adj" fmla="val 1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20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gera codigo inseguro"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5204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3520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validacao que codigo humano: lint, SAST, testes, review, gates.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Squad a 375+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3000+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8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3832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squad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375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simultaneos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2011680" cy="640080"/>
          </a:xfrm>
          <a:prstGeom prst="rect">
            <a:avLst>
              <a:gd name="adj" fmla="val 14286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926080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Padronizacao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926080"/>
            <a:ext cx="2011680" cy="640080"/>
          </a:xfrm>
          <a:prstGeom prst="rect">
            <a:avLst>
              <a:gd name="adj" fmla="val 14286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2926080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2011680" cy="640080"/>
          </a:xfrm>
          <a:prstGeom prst="rect">
            <a:avLst>
              <a:gd name="adj" fmla="val 14286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2926080"/>
            <a:ext cx="2011680" cy="640080"/>
          </a:xfrm>
          <a:prstGeom prst="rect">
            <a:avLst>
              <a:gd name="adj" fmla="val 14286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2926080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rapido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Que Voces Ja Conhecem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>
              <a:gd name="adj" fmla="val 357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formais com gates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aprovacao entre cada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do ciclo.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2560320"/>
          </a:xfrm>
          <a:prstGeom prst="rect">
            <a:avLst>
              <a:gd name="adj" fmla="val 357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6517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2-4 semanas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ceremonies completas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retrospectivas.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651760" cy="2560320"/>
          </a:xfrm>
          <a:prstGeom prst="rect">
            <a:avLst>
              <a:gd name="adj" fmla="val 3571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continuo com WIP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e visualizacao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 real.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Output E Production-Ready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unitarios e integracao (cobertura &gt;=80%)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SAST scan obrigatorio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por agente dedicado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(dependencias + secrets)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18872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Documentacao tecnica auto-gerada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78308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+ health check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37744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baseline validado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971800"/>
            <a:ext cx="320040" cy="32004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trail completo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2651760" cy="548640"/>
          </a:xfrm>
          <a:prstGeom prst="rect">
            <a:avLst>
              <a:gd name="adj" fmla="val 16667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4904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749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&gt;=90  Ready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74720" y="3749040"/>
            <a:ext cx="2651760" cy="548640"/>
          </a:xfrm>
          <a:prstGeom prst="rect">
            <a:avLst>
              <a:gd name="adj" fmla="val 16667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0" y="374904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749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75-89  Warnings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3749040"/>
            <a:ext cx="2651760" cy="548640"/>
          </a:xfrm>
          <a:prstGeom prst="rect">
            <a:avLst>
              <a:gd name="adj" fmla="val 16667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74904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749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&lt;75  Blocked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2011680" cy="1828800"/>
          </a:xfrm>
          <a:prstGeom prst="rect">
            <a:avLst>
              <a:gd name="adj" fmla="val 50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2588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 tecnica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 com equipe de engenharia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2011680" cy="1828800"/>
          </a:xfrm>
          <a:prstGeom prst="rect">
            <a:avLst>
              <a:gd name="adj" fmla="val 50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14600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gratuito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 — sem compromisso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011680" cy="1828800"/>
          </a:xfrm>
          <a:prstGeom prst="rect">
            <a:avLst>
              <a:gd name="adj" fmla="val 50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13258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1 squad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 — metricas reais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188720"/>
            <a:ext cx="2011680" cy="1828800"/>
          </a:xfrm>
          <a:prstGeom prst="rect">
            <a:avLst>
              <a:gd name="adj" fmla="val 50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13258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95160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Decisao Go/No-Go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 em dados concretos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1618488"/>
            <a:ext cx="6949440" cy="274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023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Engineering — ForgeSquad Team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contato@forgesquad.dev  |  forgesquad.dev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ForgeSquad - Pitch Itau Unibanco</dc:title>
  <dc:subject>PptxGenJS Presentation</dc:subject>
  <dc:creator>NTT DATA - ForgeSquad Team</dc:creator>
  <cp:lastModifiedBy>NTT DATA - ForgeSquad Team</cp:lastModifiedBy>
  <cp:revision>1</cp:revision>
  <dcterms:created xsi:type="dcterms:W3CDTF">2026-03-23T03:11:25Z</dcterms:created>
  <dcterms:modified xsi:type="dcterms:W3CDTF">2026-03-23T03:11:25Z</dcterms:modified>
</cp:coreProperties>
</file>